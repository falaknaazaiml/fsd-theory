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y="6858000" cx="12192000"/>
  <p:notesSz cx="6858000" cy="9144000"/>
  <p:embeddedFontLst>
    <p:embeddedFont>
      <p:font typeface="Marcellus"/>
      <p:regular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76" roundtripDataSignature="AMtx7mh/dhzGvbsDCbqp9XAMQP8tdXeY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325BB3-9C63-4876-8A07-8F6445EA1FBF}">
  <a:tblStyle styleId="{87325BB3-9C63-4876-8A07-8F6445EA1FB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FEB"/>
          </a:solidFill>
        </a:fill>
      </a:tcStyle>
    </a:wholeTbl>
    <a:band1H>
      <a:tcTxStyle b="off" i="off"/>
      <a:tcStyle>
        <a:fill>
          <a:solidFill>
            <a:srgbClr val="CBDDD5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BDDD5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73412568-2F88-406E-9F32-8ED3A80C9F4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font" Target="fonts/Marcellus-regular.fntdata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76" Type="http://customschemas.google.com/relationships/presentationmetadata" Target="metadata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# IS USED AS NO REFERNCE LINK IS PROVIDED</a:t>
            </a:r>
            <a:endParaRPr/>
          </a:p>
        </p:txBody>
      </p:sp>
      <p:sp>
        <p:nvSpPr>
          <p:cNvPr id="215" name="Google Shape;21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8" name="Google Shape;318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9" name="Google Shape;329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9" name="Google Shape;349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1" name="Google Shape;361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1" name="Google Shape;381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1" name="Google Shape;391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2" name="Google Shape;402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3" name="Google Shape;413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5" name="Google Shape;425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6" name="Google Shape;436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7" name="Google Shape;447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7" name="Google Shape;457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8" name="Google Shape;468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8" name="Google Shape;478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8" name="Google Shape;488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8" name="Google Shape;498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9" name="Google Shape;509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0" name="Google Shape;520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1" name="Google Shape;531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1" name="Google Shape;541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2" name="Google Shape;552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4" name="Google Shape;564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3" name="Google Shape;573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4" name="Google Shape;584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4" name="Google Shape;594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5" name="Google Shape;605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6" name="Google Shape;616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6" name="Google Shape;626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7" name="Google Shape;637;p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8" name="Google Shape;648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0" name="Google Shape;660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1" name="Google Shape;671;p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2" name="Google Shape;682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3" name="Google Shape;693;p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5" name="Google Shape;705;p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6" name="Google Shape;716;p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6" name="Google Shape;726;p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7" name="Google Shape;737;p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8" name="Google Shape;748;p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8" name="Google Shape;758;p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8" name="Google Shape;768;p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8" name="Google Shape;778;p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7" name="Google Shape;787;p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4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Relationship Id="rId4" Type="http://schemas.openxmlformats.org/officeDocument/2006/relationships/image" Target="../media/image13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Relationship Id="rId4" Type="http://schemas.openxmlformats.org/officeDocument/2006/relationships/image" Target="../media/image24.png"/><Relationship Id="rId5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Relationship Id="rId4" Type="http://schemas.openxmlformats.org/officeDocument/2006/relationships/image" Target="../media/image31.png"/><Relationship Id="rId5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g"/><Relationship Id="rId4" Type="http://schemas.openxmlformats.org/officeDocument/2006/relationships/image" Target="../media/image3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jpg"/><Relationship Id="rId4" Type="http://schemas.openxmlformats.org/officeDocument/2006/relationships/image" Target="../media/image26.png"/><Relationship Id="rId5" Type="http://schemas.openxmlformats.org/officeDocument/2006/relationships/image" Target="../media/image4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jpg"/><Relationship Id="rId4" Type="http://schemas.openxmlformats.org/officeDocument/2006/relationships/image" Target="../media/image3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jpg"/><Relationship Id="rId4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jpg"/><Relationship Id="rId4" Type="http://schemas.openxmlformats.org/officeDocument/2006/relationships/image" Target="../media/image32.png"/><Relationship Id="rId5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jpg"/><Relationship Id="rId4" Type="http://schemas.openxmlformats.org/officeDocument/2006/relationships/image" Target="../media/image18.png"/><Relationship Id="rId5" Type="http://schemas.openxmlformats.org/officeDocument/2006/relationships/image" Target="../media/image3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jpg"/><Relationship Id="rId4" Type="http://schemas.openxmlformats.org/officeDocument/2006/relationships/image" Target="../media/image19.png"/><Relationship Id="rId5" Type="http://schemas.openxmlformats.org/officeDocument/2006/relationships/image" Target="../media/image3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jpg"/><Relationship Id="rId4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jpg"/><Relationship Id="rId4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jpg"/><Relationship Id="rId4" Type="http://schemas.openxmlformats.org/officeDocument/2006/relationships/image" Target="../media/image3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jpg"/><Relationship Id="rId4" Type="http://schemas.openxmlformats.org/officeDocument/2006/relationships/image" Target="../media/image40.png"/><Relationship Id="rId5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jpg"/><Relationship Id="rId4" Type="http://schemas.openxmlformats.org/officeDocument/2006/relationships/image" Target="../media/image22.png"/><Relationship Id="rId5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jpg"/><Relationship Id="rId4" Type="http://schemas.openxmlformats.org/officeDocument/2006/relationships/image" Target="../media/image29.png"/><Relationship Id="rId5" Type="http://schemas.openxmlformats.org/officeDocument/2006/relationships/image" Target="../media/image7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jpg"/><Relationship Id="rId4" Type="http://schemas.openxmlformats.org/officeDocument/2006/relationships/image" Target="../media/image30.png"/><Relationship Id="rId5" Type="http://schemas.openxmlformats.org/officeDocument/2006/relationships/image" Target="../media/image4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jpg"/><Relationship Id="rId4" Type="http://schemas.openxmlformats.org/officeDocument/2006/relationships/image" Target="../media/image66.png"/><Relationship Id="rId5" Type="http://schemas.openxmlformats.org/officeDocument/2006/relationships/image" Target="../media/image2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jpg"/><Relationship Id="rId4" Type="http://schemas.openxmlformats.org/officeDocument/2006/relationships/image" Target="../media/image2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.jpg"/><Relationship Id="rId4" Type="http://schemas.openxmlformats.org/officeDocument/2006/relationships/image" Target="../media/image4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jpg"/><Relationship Id="rId4" Type="http://schemas.openxmlformats.org/officeDocument/2006/relationships/image" Target="../media/image4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jpg"/><Relationship Id="rId4" Type="http://schemas.openxmlformats.org/officeDocument/2006/relationships/image" Target="../media/image4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.jpg"/><Relationship Id="rId4" Type="http://schemas.openxmlformats.org/officeDocument/2006/relationships/image" Target="../media/image4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.jp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.jpg"/><Relationship Id="rId4" Type="http://schemas.openxmlformats.org/officeDocument/2006/relationships/image" Target="../media/image41.png"/><Relationship Id="rId5" Type="http://schemas.openxmlformats.org/officeDocument/2006/relationships/image" Target="../media/image5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0.jpg"/><Relationship Id="rId4" Type="http://schemas.openxmlformats.org/officeDocument/2006/relationships/image" Target="../media/image5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.jpg"/><Relationship Id="rId4" Type="http://schemas.openxmlformats.org/officeDocument/2006/relationships/image" Target="../media/image5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0.jpg"/><Relationship Id="rId4" Type="http://schemas.openxmlformats.org/officeDocument/2006/relationships/image" Target="../media/image57.png"/><Relationship Id="rId5" Type="http://schemas.openxmlformats.org/officeDocument/2006/relationships/image" Target="../media/image5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0.jpg"/><Relationship Id="rId4" Type="http://schemas.openxmlformats.org/officeDocument/2006/relationships/image" Target="../media/image62.png"/><Relationship Id="rId5" Type="http://schemas.openxmlformats.org/officeDocument/2006/relationships/image" Target="../media/image60.png"/><Relationship Id="rId6" Type="http://schemas.openxmlformats.org/officeDocument/2006/relationships/image" Target="../media/image5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0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0.jpg"/><Relationship Id="rId4" Type="http://schemas.openxmlformats.org/officeDocument/2006/relationships/image" Target="../media/image5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0.jpg"/><Relationship Id="rId4" Type="http://schemas.openxmlformats.org/officeDocument/2006/relationships/image" Target="../media/image6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jpg"/><Relationship Id="rId4" Type="http://schemas.openxmlformats.org/officeDocument/2006/relationships/image" Target="../media/image50.png"/><Relationship Id="rId5" Type="http://schemas.openxmlformats.org/officeDocument/2006/relationships/image" Target="../media/image5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0.jpg"/><Relationship Id="rId4" Type="http://schemas.openxmlformats.org/officeDocument/2006/relationships/image" Target="../media/image85.png"/><Relationship Id="rId5" Type="http://schemas.openxmlformats.org/officeDocument/2006/relationships/image" Target="../media/image6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0.jpg"/><Relationship Id="rId4" Type="http://schemas.openxmlformats.org/officeDocument/2006/relationships/image" Target="../media/image7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0.jpg"/><Relationship Id="rId4" Type="http://schemas.openxmlformats.org/officeDocument/2006/relationships/image" Target="../media/image61.png"/><Relationship Id="rId5" Type="http://schemas.openxmlformats.org/officeDocument/2006/relationships/image" Target="../media/image6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0.jpg"/><Relationship Id="rId4" Type="http://schemas.openxmlformats.org/officeDocument/2006/relationships/image" Target="../media/image63.png"/><Relationship Id="rId5" Type="http://schemas.openxmlformats.org/officeDocument/2006/relationships/image" Target="../media/image6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0.jpg"/><Relationship Id="rId4" Type="http://schemas.openxmlformats.org/officeDocument/2006/relationships/image" Target="../media/image64.png"/><Relationship Id="rId5" Type="http://schemas.openxmlformats.org/officeDocument/2006/relationships/image" Target="../media/image58.png"/><Relationship Id="rId6" Type="http://schemas.openxmlformats.org/officeDocument/2006/relationships/image" Target="../media/image7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0.jpg"/><Relationship Id="rId4" Type="http://schemas.openxmlformats.org/officeDocument/2006/relationships/image" Target="../media/image78.png"/><Relationship Id="rId5" Type="http://schemas.openxmlformats.org/officeDocument/2006/relationships/image" Target="../media/image7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0.jpg"/><Relationship Id="rId4" Type="http://schemas.openxmlformats.org/officeDocument/2006/relationships/image" Target="../media/image73.png"/><Relationship Id="rId5" Type="http://schemas.openxmlformats.org/officeDocument/2006/relationships/image" Target="../media/image8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0.jpg"/><Relationship Id="rId4" Type="http://schemas.openxmlformats.org/officeDocument/2006/relationships/image" Target="../media/image77.png"/><Relationship Id="rId5" Type="http://schemas.openxmlformats.org/officeDocument/2006/relationships/image" Target="../media/image7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0.jpg"/><Relationship Id="rId4" Type="http://schemas.openxmlformats.org/officeDocument/2006/relationships/image" Target="../media/image74.png"/><Relationship Id="rId5" Type="http://schemas.openxmlformats.org/officeDocument/2006/relationships/image" Target="../media/image8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0.jpg"/><Relationship Id="rId4" Type="http://schemas.openxmlformats.org/officeDocument/2006/relationships/image" Target="../media/image76.png"/><Relationship Id="rId5" Type="http://schemas.openxmlformats.org/officeDocument/2006/relationships/image" Target="../media/image8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0.jpg"/><Relationship Id="rId4" Type="http://schemas.openxmlformats.org/officeDocument/2006/relationships/image" Target="../media/image8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0.jpg"/><Relationship Id="rId4" Type="http://schemas.openxmlformats.org/officeDocument/2006/relationships/image" Target="../media/image81.png"/><Relationship Id="rId5" Type="http://schemas.openxmlformats.org/officeDocument/2006/relationships/image" Target="../media/image90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0.jpg"/><Relationship Id="rId4" Type="http://schemas.openxmlformats.org/officeDocument/2006/relationships/image" Target="../media/image89.png"/><Relationship Id="rId5" Type="http://schemas.openxmlformats.org/officeDocument/2006/relationships/image" Target="../media/image80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0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0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0.jpg"/><Relationship Id="rId4" Type="http://schemas.openxmlformats.org/officeDocument/2006/relationships/hyperlink" Target="https://drive.google.com/file/d/1X1makkzeIPbE_LjsCfsWURvRmQjip1uQ/view?usp=sharing" TargetMode="External"/><Relationship Id="rId5" Type="http://schemas.openxmlformats.org/officeDocument/2006/relationships/image" Target="../media/image83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0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0.jpg"/><Relationship Id="rId4" Type="http://schemas.openxmlformats.org/officeDocument/2006/relationships/hyperlink" Target="https://drive.google.com/file/d/1vOgTbkI-Ln_rscTLvcbzOq-X8M1n9kDd/view?usp=sharing" TargetMode="External"/><Relationship Id="rId5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GANGA\Desktop\download.jp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" name="Google Shape;85;p1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818866" y="128790"/>
            <a:ext cx="11136573" cy="658110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22CAC09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STACK DEVELOPMENT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UNIT-I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86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rgbClr val="86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76280" y="4289738"/>
            <a:ext cx="24003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of Bootstrap</a:t>
            </a:r>
            <a:endParaRPr b="1" sz="360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" name="Google Shape;95;p2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Powerful, extensible, and feature-packed frontend toolkit. </a:t>
            </a:r>
            <a:endParaRPr b="1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is the most commonly used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 for Front-End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Development.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</a:t>
            </a:r>
            <a:r>
              <a:rPr b="0" i="0" lang="en-US" sz="2800" u="none" cap="none" strike="noStrike">
                <a:solidFill>
                  <a:srgbClr val="071D0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providing several pre defined libraries for css and java script.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version of Bootstrap is: 5.2.x</a:t>
            </a:r>
            <a:endParaRPr b="1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2996050" y="5044557"/>
            <a:ext cx="4938900" cy="584700"/>
          </a:xfrm>
          <a:prstGeom prst="rect">
            <a:avLst/>
          </a:prstGeom>
          <a:noFill/>
          <a:ln cap="flat" cmpd="sng" w="69850">
            <a:solidFill>
              <a:srgbClr val="071D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https://getbootstrap.com/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2996045" y="5903484"/>
            <a:ext cx="7488382" cy="584775"/>
          </a:xfrm>
          <a:prstGeom prst="rect">
            <a:avLst/>
          </a:prstGeom>
          <a:noFill/>
          <a:ln cap="flat" cmpd="sng" w="73025">
            <a:solidFill>
              <a:srgbClr val="071D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https://www.w3schools.com/howto/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4 VS Bootstrap 5</a:t>
            </a:r>
            <a:endParaRPr b="1" sz="360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6" name="Google Shape;106;p3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1086075" y="1140075"/>
            <a:ext cx="10443900" cy="51558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9" name="Google Shape;109;p3"/>
          <p:cNvGraphicFramePr/>
          <p:nvPr/>
        </p:nvGraphicFramePr>
        <p:xfrm>
          <a:off x="1086069" y="1140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{87325BB3-9C63-4876-8A07-8F6445EA1FBF}</a:tableStyleId>
              </a:tblPr>
              <a:tblGrid>
                <a:gridCol w="1930400"/>
                <a:gridCol w="4183125"/>
                <a:gridCol w="4330275"/>
              </a:tblGrid>
              <a:tr h="45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BASIS OF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solidFill>
                      <a:srgbClr val="071D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BOOTSTRAP 4</a:t>
                      </a:r>
                      <a:endParaRPr sz="1400" u="none" cap="none" strike="noStrike"/>
                    </a:p>
                  </a:txBody>
                  <a:tcPr marT="95250" marB="95250" marR="95250" marL="95250" anchor="ctr">
                    <a:solidFill>
                      <a:srgbClr val="071D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BOOTSTRAP 5</a:t>
                      </a:r>
                      <a:endParaRPr sz="1400" u="none" cap="none" strike="noStrike"/>
                    </a:p>
                  </a:txBody>
                  <a:tcPr marT="95250" marB="95250" marR="95250" marL="95250" anchor="ctr">
                    <a:solidFill>
                      <a:srgbClr val="071D01"/>
                    </a:solidFill>
                  </a:tcPr>
                </a:tc>
              </a:tr>
              <a:tr h="512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Grid System</a:t>
                      </a:r>
                      <a:endParaRPr b="0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3350" marB="1333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has 5 tier (xs, sm, md, lg, xl).</a:t>
                      </a:r>
                      <a:endParaRPr sz="1400" u="none" cap="none" strike="noStrike"/>
                    </a:p>
                  </a:txBody>
                  <a:tcPr marT="133350" marB="1333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has 6 tier (xs, sm, md, lg, xl, xxl).</a:t>
                      </a:r>
                      <a:endParaRPr sz="1400" u="none" cap="none" strike="noStrike"/>
                    </a:p>
                  </a:txBody>
                  <a:tcPr marT="133350" marB="133350" marR="95250" marL="95250" anchor="ctr"/>
                </a:tc>
              </a:tr>
              <a:tr h="72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Color</a:t>
                      </a:r>
                      <a:endParaRPr b="0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3350" marB="1333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has limited colors.</a:t>
                      </a:r>
                      <a:endParaRPr sz="1400" u="none" cap="none" strike="noStrike"/>
                    </a:p>
                  </a:txBody>
                  <a:tcPr marT="133350" marB="1333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Extra colors added with the looks, A card improved color palette. </a:t>
                      </a:r>
                      <a:endParaRPr sz="1400" u="none" cap="none" strike="noStrike"/>
                    </a:p>
                  </a:txBody>
                  <a:tcPr marT="133350" marB="133350" marR="95250" marL="95250" anchor="ctr"/>
                </a:tc>
              </a:tr>
              <a:tr h="72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Jquery</a:t>
                      </a:r>
                      <a:endParaRPr b="0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3350" marB="1333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has jquery and all related plugins.</a:t>
                      </a:r>
                      <a:endParaRPr sz="1400" u="none" cap="none" strike="noStrike"/>
                    </a:p>
                  </a:txBody>
                  <a:tcPr marT="133350" marB="1333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Jquery is removed and switched to vanilla JS with some working plugins</a:t>
                      </a:r>
                      <a:endParaRPr b="0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3350" marB="133350" marR="95250" marL="95250" anchor="ctr"/>
                </a:tc>
              </a:tr>
              <a:tr h="512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Internet Explorer</a:t>
                      </a:r>
                      <a:endParaRPr b="0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3350" marB="1333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Bootstrap 4 supports both IE 10 and 11.</a:t>
                      </a:r>
                      <a:endParaRPr sz="1400" u="none" cap="none" strike="noStrike"/>
                    </a:p>
                  </a:txBody>
                  <a:tcPr marT="133350" marB="1333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Bootstrap 5 doesn’t support IE 10 and 11.</a:t>
                      </a:r>
                      <a:endParaRPr sz="1400" u="none" cap="none" strike="noStrike"/>
                    </a:p>
                  </a:txBody>
                  <a:tcPr marT="133350" marB="133350" marR="95250" marL="95250" anchor="ctr"/>
                </a:tc>
              </a:tr>
              <a:tr h="72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Form elements</a:t>
                      </a:r>
                      <a:endParaRPr b="0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3350" marB="1333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Radio buttons, checkboxes have different look in different OS and browsers. </a:t>
                      </a:r>
                      <a:endParaRPr sz="1400" u="none" cap="none" strike="noStrike"/>
                    </a:p>
                  </a:txBody>
                  <a:tcPr marT="133350" marB="1333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look of form elements will not change, on different OS or browser. </a:t>
                      </a:r>
                      <a:endParaRPr sz="1400" u="none" cap="none" strike="noStrike"/>
                    </a:p>
                  </a:txBody>
                  <a:tcPr marT="133350" marB="133350" marR="95250" marL="95250" anchor="ctr"/>
                </a:tc>
              </a:tr>
              <a:tr h="72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Bootstrap Icons</a:t>
                      </a:r>
                      <a:endParaRPr b="0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3350" marB="1333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Bootstrap 4 doesn’t have its own SVG icons, we have to use font-awesome for icons.</a:t>
                      </a:r>
                      <a:endParaRPr sz="1400" u="none" cap="none" strike="noStrike"/>
                    </a:p>
                  </a:txBody>
                  <a:tcPr marT="133350" marB="1333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Bootstrap 5 have its own SVG icons</a:t>
                      </a:r>
                      <a:endParaRPr sz="1400" u="none" cap="none" strike="noStrike"/>
                    </a:p>
                  </a:txBody>
                  <a:tcPr marT="133350" marB="133350" marR="95250" marL="95250" anchor="ctr"/>
                </a:tc>
              </a:tr>
              <a:tr h="775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Jumbotron</a:t>
                      </a:r>
                      <a:endParaRPr b="0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3350" marB="1333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supports.</a:t>
                      </a:r>
                      <a:endParaRPr sz="1400" u="none" cap="none" strike="noStrike"/>
                    </a:p>
                  </a:txBody>
                  <a:tcPr marT="133350" marB="13335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doesn’t support jumbotron.</a:t>
                      </a:r>
                      <a:endParaRPr sz="1400" u="none" cap="none" strike="noStrike"/>
                    </a:p>
                  </a:txBody>
                  <a:tcPr marT="133350" marB="133350" marR="95250" marL="952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Connectivity of Bootstrap in page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We can </a:t>
            </a:r>
            <a:r>
              <a:rPr b="1" i="0" lang="en-US" sz="2800" u="none" cap="none" strike="noStrike">
                <a:solidFill>
                  <a:srgbClr val="071D0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connect Bootstrap</a:t>
            </a:r>
            <a:r>
              <a:rPr b="0" i="0" lang="en-US" sz="2800" u="none" cap="none" strike="noStrike">
                <a:solidFill>
                  <a:srgbClr val="071D0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with HTML by using the following </a:t>
            </a:r>
            <a:r>
              <a:rPr b="1" i="0" lang="en-US" sz="2800" u="none" cap="none" strike="noStrike">
                <a:solidFill>
                  <a:srgbClr val="071D0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 ways. </a:t>
            </a:r>
            <a:endParaRPr b="1" i="0" sz="2800" u="none" cap="none" strike="noStrike">
              <a:solidFill>
                <a:srgbClr val="071D01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By using CDN </a:t>
            </a:r>
            <a:endParaRPr b="0" i="0" sz="1400" u="none" cap="none" strike="noStrike">
              <a:solidFill>
                <a:srgbClr val="00000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Locally</a:t>
            </a:r>
            <a:r>
              <a:rPr b="0" i="0" lang="en-US" sz="2800" u="none" cap="none" strike="noStrike">
                <a:solidFill>
                  <a:srgbClr val="071D0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2800" u="none" cap="none" strike="noStrike">
              <a:solidFill>
                <a:srgbClr val="071D01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CDN</a:t>
            </a:r>
            <a:r>
              <a:rPr b="0" i="0" lang="en-US" sz="2800" u="sng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 </a:t>
            </a:r>
            <a:r>
              <a:rPr b="1" i="0" lang="en-US" sz="2800" u="sng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 Delivery Network </a:t>
            </a:r>
            <a:r>
              <a:rPr b="0" i="0" lang="en-US" sz="2800" u="sng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2800" u="sng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the following in the &lt;head&gt; part of our html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&lt;link href="https://cdn.jsdelivr.net/npm/bootstrap@5.1.3/dist/css/bootstrap.min.css" rel="stylesheet" &gt;</a:t>
            </a:r>
            <a:endParaRPr b="1" i="0" sz="1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6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 Delivery Network </a:t>
            </a:r>
            <a:endParaRPr b="0" i="0" sz="36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7" name="Google Shape;127;p5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425" y="1209675"/>
            <a:ext cx="10607812" cy="2853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42013" y="4255946"/>
            <a:ext cx="6819900" cy="173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Bootstrap Locally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Download bootstrap.css file from the link getbootstrap.com .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zip file contains bootstrap.css file.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 this file in our application folder and add the following link in html.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&lt;link rel="stylesheet" href=“bootstrap.css"&gt; </a:t>
            </a:r>
            <a:endParaRPr b="1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8" name="Google Shape;138;p6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Bootstrap Locally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7" name="Google Shape;147;p7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3791" y="899137"/>
            <a:ext cx="10647950" cy="3018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9119" y="3928737"/>
            <a:ext cx="9482571" cy="1883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 and Container-fluid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68236" y="811369"/>
            <a:ext cx="12012000" cy="54666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bootstrap, the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 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used to set the content’s margin.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.container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.container class provides a responsive fixed width container.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.container-fluid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.container-fluid class provides a full-width container which spans the entire width of the viewport.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157" name="Google Shape;1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8" name="Google Shape;158;p8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0137" y="4719145"/>
            <a:ext cx="8334375" cy="1580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 txBox="1"/>
          <p:nvPr/>
        </p:nvSpPr>
        <p:spPr>
          <a:xfrm>
            <a:off x="157886" y="581849"/>
            <a:ext cx="11123400" cy="6606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 and Container-fluid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157886" y="1349244"/>
            <a:ext cx="12012000" cy="54666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167" name="Google Shape;1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23058" y="606656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8" name="Google Shape;168;p9"/>
          <p:cNvSpPr/>
          <p:nvPr/>
        </p:nvSpPr>
        <p:spPr>
          <a:xfrm>
            <a:off x="89650" y="7102448"/>
            <a:ext cx="12192000" cy="2934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89651" y="6897734"/>
            <a:ext cx="10276800" cy="19320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6345" y="1454211"/>
            <a:ext cx="11237201" cy="484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 and Container-fluid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0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177" name="Google Shape;1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8" name="Google Shape;178;p10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4288" y="2297496"/>
            <a:ext cx="5192111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4359" y="1169605"/>
            <a:ext cx="6211778" cy="4421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 and Container-fluid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188" name="Google Shape;18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9" name="Google Shape;189;p11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934" y="1145628"/>
            <a:ext cx="11084532" cy="4687613"/>
          </a:xfrm>
          <a:prstGeom prst="rect">
            <a:avLst/>
          </a:prstGeom>
          <a:noFill/>
          <a:ln cap="flat" cmpd="sng" w="34925">
            <a:solidFill>
              <a:srgbClr val="6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 - </a:t>
            </a:r>
            <a:r>
              <a:rPr b="1" lang="en-US" sz="36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</a:t>
            </a:r>
            <a:endParaRPr b="1" sz="3600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197" name="Google Shape;19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8" name="Google Shape;198;p12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of the styles in Bootstrap are implemented as class styles.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use these classes directly in our web application to improve look and feel.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Commonly Used Classes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Container Class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Button Related Classes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Jumbotron Classes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 - </a:t>
            </a:r>
            <a:r>
              <a:rPr b="1" lang="en-US" sz="36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206" name="Google Shape;20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13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 Class: </a:t>
            </a:r>
            <a:endParaRPr b="0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To center our elements we should use container class.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0" name="Google Shape;21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1796" y="2343583"/>
            <a:ext cx="696494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99872" y="3467954"/>
            <a:ext cx="7124700" cy="2188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38575" y="5599448"/>
            <a:ext cx="7715250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 - </a:t>
            </a:r>
            <a:r>
              <a:rPr b="1" i="0" lang="en-US" sz="36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button classes can be used on an </a:t>
            </a:r>
            <a:r>
              <a:rPr b="1" i="0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&lt;a&gt;, &lt;button&gt;, or &lt;input&gt;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221" name="Google Shape;22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2" name="Google Shape;22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7927" y="1814609"/>
            <a:ext cx="10505209" cy="3589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Change Default Styles of Bootstrap 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15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230" name="Google Shape;2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1" name="Google Shape;231;p15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682" y="1328453"/>
            <a:ext cx="10131136" cy="3815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2300" y="2083377"/>
            <a:ext cx="4552518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 - </a:t>
            </a:r>
            <a:r>
              <a:rPr b="1" i="0" lang="en-US" sz="36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40" name="Google Shape;240;p16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provides four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 sizes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classes that define the different sizes are: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btn-lg</a:t>
            </a:r>
            <a:endParaRPr b="1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	.btn-sm</a:t>
            </a:r>
            <a:endParaRPr b="1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	.btn-xs</a:t>
            </a:r>
            <a:endParaRPr b="1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241" name="Google Shape;2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2" name="Google Shape;242;p16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115" y="3809606"/>
            <a:ext cx="7829550" cy="1930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6253" y="2239097"/>
            <a:ext cx="505777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 - </a:t>
            </a:r>
            <a:r>
              <a:rPr b="1" i="0" lang="en-US" sz="36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51" name="Google Shape;251;p17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 Groups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allows you to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a series of buttons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together (on a single line) in a button group.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a &lt;div&gt; element with class .btn-group to create a button group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&lt;div class="btn-group </a:t>
            </a:r>
            <a:r>
              <a:rPr b="1" i="0" lang="en-US" sz="24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btn-group-vertical</a:t>
            </a:r>
            <a:r>
              <a:rPr b="1" i="0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btn-group-lg </a:t>
            </a:r>
            <a:r>
              <a:rPr b="1" i="0" lang="en-US" sz="24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btn-group-justified</a:t>
            </a:r>
            <a:r>
              <a:rPr b="1" i="0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btn-success"&gt;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252" name="Google Shape;2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3" name="Google Shape;253;p17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272" y="4343193"/>
            <a:ext cx="11265172" cy="1248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Jumbotron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261" name="Google Shape;2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2" name="Google Shape;262;p18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8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jumbotron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indicates a big box for calling extra attention to some special content or information.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jumbotron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displayed as a grey box with rounded corners. It also enlarges the font sizes of the text inside 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Inside a 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jumbotron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you can put nearly any valid HTML, including other Bootstrap elements/classes.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Jumbotron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270" name="Google Shape;2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1" name="Google Shape;271;p19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9"/>
          <p:cNvSpPr txBox="1"/>
          <p:nvPr/>
        </p:nvSpPr>
        <p:spPr>
          <a:xfrm>
            <a:off x="817404" y="914400"/>
            <a:ext cx="11136600" cy="57954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4" name="Google Shape;2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3000" y="914401"/>
            <a:ext cx="10785775" cy="2208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35948" y="3439400"/>
            <a:ext cx="9102434" cy="2951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"/>
          <p:cNvSpPr txBox="1"/>
          <p:nvPr/>
        </p:nvSpPr>
        <p:spPr>
          <a:xfrm>
            <a:off x="163772" y="204716"/>
            <a:ext cx="10781700" cy="6606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Grid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Bootstrap’s grid system uses a series of containers, rows, and columns to layout and align content.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Bootstrap's grid system is built with flexbox and allows up to 12 columns across the page.</a:t>
            </a:r>
            <a:endParaRPr b="0" i="0" sz="1400" u="none" cap="none" strike="noStrike">
              <a:solidFill>
                <a:srgbClr val="00000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 do not want to use all 12 columns individually, you can group the columns together to create wider columns.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284" name="Google Shape;2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5" name="Google Shape;285;p20"/>
          <p:cNvSpPr/>
          <p:nvPr/>
        </p:nvSpPr>
        <p:spPr>
          <a:xfrm>
            <a:off x="301336" y="5592301"/>
            <a:ext cx="10131137" cy="369332"/>
          </a:xfrm>
          <a:prstGeom prst="rect">
            <a:avLst/>
          </a:prstGeom>
          <a:noFill/>
          <a:ln cap="flat" cmpd="sng" w="69850">
            <a:solidFill>
              <a:srgbClr val="071D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00000"/>
                </a:solidFill>
                <a:latin typeface="Calibri"/>
                <a:ea typeface="Calibri"/>
                <a:cs typeface="Calibri"/>
                <a:sym typeface="Calibri"/>
              </a:rPr>
              <a:t>https://chrome.google.com/webstore/detail/bootstrap-grid-overlay/mnlklmelflkheijccafopdohgclfefcg</a:t>
            </a:r>
            <a:endParaRPr b="1" i="0" sz="1800" u="none" cap="none" strike="noStrike">
              <a:solidFill>
                <a:srgbClr val="6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Grid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we need Grid?</a:t>
            </a:r>
            <a:endParaRPr b="1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To display our application layout properly on multiple devices of multiple screen sizes like desktop, laptop, tab, mobile etc, we should go for grid system.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11477767" y="0"/>
            <a:ext cx="714300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293" name="Google Shape;29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4" name="Google Shape;294;p21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566" y="3643312"/>
            <a:ext cx="10819534" cy="23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Grid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5 grid system has six classes</a:t>
            </a:r>
            <a:endParaRPr b="1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.col-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(extra small devices - screen width less than 576px)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.col-sm-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(small devices - screen width equal to or greater than 576px)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.col-md-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(medium devices - screen width equal to or greater than 768px)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.col-lg-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(large devices - screen width equal to or greater than 992px)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.col-xl-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(xlarge devices - screen width equal to or greater than 1200px)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.col-xxl-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(xxlarge devices - screen width equal to or greater than 1400px)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303" name="Google Shape;3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4" name="Google Shape;304;p22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3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Grid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311" name="Google Shape;311;p23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implement Grid? </a:t>
            </a:r>
            <a:endParaRPr b="1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implement grid by using 2 classes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row class: to define row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&lt;div class="row"&gt;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Within the row we can define columns by using the following class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col-screenSize-noOfColumns </a:t>
            </a:r>
            <a:endParaRPr b="1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312" name="Google Shape;3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3" name="Google Shape;313;p23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7927" y="2308380"/>
            <a:ext cx="7704082" cy="1793404"/>
          </a:xfrm>
          <a:prstGeom prst="rect">
            <a:avLst/>
          </a:prstGeom>
          <a:noFill/>
          <a:ln cap="flat" cmpd="sng" w="66675">
            <a:solidFill>
              <a:srgbClr val="6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4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Grid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321" name="Google Shape;32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2" name="Google Shape;322;p24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4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		</a:t>
            </a:r>
            <a:r>
              <a:rPr b="1" i="0" lang="en-US" sz="9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2: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		</a:t>
            </a:r>
            <a:r>
              <a:rPr b="1" i="0" lang="en-US" sz="9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b="1" i="0" sz="9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9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5" name="Google Shape;32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992" y="1742539"/>
            <a:ext cx="7967193" cy="170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9690" y="4636394"/>
            <a:ext cx="7580827" cy="188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5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Grid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332" name="Google Shape;33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3" name="Google Shape;333;p25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5"/>
          <p:cNvSpPr txBox="1"/>
          <p:nvPr/>
        </p:nvSpPr>
        <p:spPr>
          <a:xfrm>
            <a:off x="895066" y="914400"/>
            <a:ext cx="11136600" cy="57954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 Grid: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Grid inside Grid </a:t>
            </a:r>
            <a:endParaRPr b="1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6" name="Google Shape;33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7465" y="1724518"/>
            <a:ext cx="9130535" cy="2742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6441" y="4670556"/>
            <a:ext cx="10412537" cy="2021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6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Table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343" name="Google Shape;343;p26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sng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basic Bootstrap 5 table has a light padding and horizontal dividers</a:t>
            </a:r>
            <a:r>
              <a:rPr b="0" i="0" lang="en-US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.table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class adds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styling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 table.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.table-striped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class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adds zebra-stripes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 table.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6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 </a:t>
            </a:r>
            <a:r>
              <a:rPr b="1" i="0" lang="en-US" sz="26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.table-bordered</a:t>
            </a:r>
            <a:r>
              <a:rPr b="0" i="0" lang="en-US" sz="26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class </a:t>
            </a:r>
            <a:r>
              <a:rPr b="1" i="0" lang="en-US" sz="2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adds borders on all sides</a:t>
            </a:r>
            <a:r>
              <a:rPr b="0" i="0" lang="en-US" sz="26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table and cells.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.table-hover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class adds a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hover effect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table rows.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 .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table-dark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class adds a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black background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table.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 .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table-dark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and .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table-striped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to create a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dark, striped table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.table-borderless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class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removes borders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the table.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346" name="Google Shape;34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7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Table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352" name="Google Shape;352;p27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p27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354" name="Google Shape;35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5" name="Google Shape;355;p27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7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" name="Google Shape;35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690" y="1134789"/>
            <a:ext cx="5165834" cy="4845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4152" y="1714500"/>
            <a:ext cx="5809920" cy="3103380"/>
          </a:xfrm>
          <a:prstGeom prst="rect">
            <a:avLst/>
          </a:prstGeom>
          <a:noFill/>
          <a:ln cap="flat" cmpd="sng" w="53975">
            <a:solidFill>
              <a:srgbClr val="6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Table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364" name="Google Shape;364;p28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Contextual classes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can be used to color the whole table (&lt;table&gt;),  the table rows (&lt;tr&gt;) or table cells (&lt;td&gt;).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365" name="Google Shape;36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6" name="Google Shape;366;p28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8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Google Shape;36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970" y="2259724"/>
            <a:ext cx="10334625" cy="3673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9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Table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374" name="Google Shape;374;p29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375" name="Google Shape;37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6" name="Google Shape;376;p29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9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8" name="Google Shape;37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262" y="892722"/>
            <a:ext cx="11804103" cy="5213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0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Table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384" name="Google Shape;38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5" name="Google Shape;385;p30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0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0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8" name="Google Shape;38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25818" y="1305019"/>
            <a:ext cx="8061435" cy="5014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1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Table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394" name="Google Shape;39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5" name="Google Shape;395;p31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1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1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Responsive Tables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 </a:t>
            </a:r>
            <a:r>
              <a:rPr b="1" i="0" lang="en-US" sz="2800" u="none" cap="none" strike="noStrike">
                <a:solidFill>
                  <a:srgbClr val="071D0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.table-responsive</a:t>
            </a:r>
            <a:r>
              <a:rPr b="0" i="0" lang="en-US" sz="2800" u="none" cap="none" strike="noStrike">
                <a:solidFill>
                  <a:srgbClr val="071D0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 class </a:t>
            </a:r>
            <a:r>
              <a:rPr b="1" i="0" lang="en-US" sz="2800" u="none" cap="none" strike="noStrike">
                <a:solidFill>
                  <a:srgbClr val="600000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adds a scrollbar </a:t>
            </a:r>
            <a:r>
              <a:rPr b="0" i="0" lang="en-US" sz="2800" u="none" cap="none" strike="noStrike">
                <a:solidFill>
                  <a:srgbClr val="071D0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to the table.</a:t>
            </a:r>
            <a:endParaRPr b="1" i="0" sz="2800" u="none" cap="none" strike="noStrike">
              <a:solidFill>
                <a:srgbClr val="071D01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8" name="Google Shape;39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875" y="2386505"/>
            <a:ext cx="10382250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8263" y="4866289"/>
            <a:ext cx="9907806" cy="1656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2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Image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405" name="Google Shape;405;p32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32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2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408" name="Google Shape;40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09" name="Google Shape;40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414" y="1432528"/>
            <a:ext cx="10026869" cy="2183030"/>
          </a:xfrm>
          <a:prstGeom prst="rect">
            <a:avLst/>
          </a:prstGeom>
          <a:noFill/>
          <a:ln cap="flat" cmpd="sng" w="31750">
            <a:solidFill>
              <a:srgbClr val="6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410" name="Google Shape;41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2269" y="3872567"/>
            <a:ext cx="10056545" cy="2335602"/>
          </a:xfrm>
          <a:prstGeom prst="rect">
            <a:avLst/>
          </a:prstGeom>
          <a:noFill/>
          <a:ln cap="flat" cmpd="sng" w="31750">
            <a:solidFill>
              <a:srgbClr val="6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3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Image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416" name="Google Shape;416;p33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Aligning Images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rgbClr val="071D0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Float an image to the </a:t>
            </a:r>
            <a:r>
              <a:rPr b="1" i="0" lang="en-US" sz="2400" u="none" cap="none" strike="noStrike">
                <a:solidFill>
                  <a:srgbClr val="600000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left with the .float-start</a:t>
            </a:r>
            <a:r>
              <a:rPr b="0" i="0" lang="en-US" sz="2400" u="none" cap="none" strike="noStrike">
                <a:solidFill>
                  <a:srgbClr val="071D0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 class or to the </a:t>
            </a:r>
            <a:r>
              <a:rPr b="1" i="0" lang="en-US" sz="2400" u="none" cap="none" strike="noStrike">
                <a:solidFill>
                  <a:srgbClr val="600000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right with .float-end</a:t>
            </a:r>
            <a:r>
              <a:rPr b="0" i="0" lang="en-US" sz="24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33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418" name="Google Shape;41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9" name="Google Shape;419;p33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3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1" name="Google Shape;42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299" y="2374900"/>
            <a:ext cx="10340865" cy="1450866"/>
          </a:xfrm>
          <a:prstGeom prst="rect">
            <a:avLst/>
          </a:prstGeom>
          <a:noFill/>
          <a:ln cap="flat" cmpd="sng" w="34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22" name="Google Shape;42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5517" y="3987800"/>
            <a:ext cx="10310648" cy="1982529"/>
          </a:xfrm>
          <a:prstGeom prst="rect">
            <a:avLst/>
          </a:prstGeom>
          <a:noFill/>
          <a:ln cap="flat" cmpd="sng" w="31750">
            <a:solidFill>
              <a:srgbClr val="6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4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Image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428" name="Google Shape;428;p34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 come in all sizes. </a:t>
            </a:r>
            <a:r>
              <a:rPr b="1" i="0" lang="en-US" sz="2800" u="none" cap="none" strike="noStrike">
                <a:solidFill>
                  <a:srgbClr val="071D0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Responsive Images </a:t>
            </a:r>
            <a:r>
              <a:rPr b="0" i="0" lang="en-US" sz="2800" u="none" cap="none" strike="noStrike">
                <a:solidFill>
                  <a:srgbClr val="071D0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automatically adjust to fit the size of the screen.</a:t>
            </a:r>
            <a:endParaRPr b="0" i="0" sz="2800" u="none" cap="none" strike="noStrike">
              <a:solidFill>
                <a:srgbClr val="071D01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429" name="Google Shape;42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0" name="Google Shape;430;p34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4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2" name="Google Shape;43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2187" y="2346271"/>
            <a:ext cx="10385206" cy="2110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7650" y="3455656"/>
            <a:ext cx="4612186" cy="2484816"/>
          </a:xfrm>
          <a:prstGeom prst="rect">
            <a:avLst/>
          </a:prstGeom>
          <a:noFill/>
          <a:ln cap="flat" cmpd="sng" w="31750">
            <a:solidFill>
              <a:srgbClr val="6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7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Alert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439" name="Google Shape;43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40" name="Google Shape;440;p47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47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47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5 provides an easy way to create predefined alert messages.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.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alert-success</a:t>
            </a:r>
            <a:endParaRPr b="1" i="0" sz="2800" u="none" cap="none" strike="noStrike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3" name="Google Shape;44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2140" y="1602193"/>
            <a:ext cx="4390243" cy="4997426"/>
          </a:xfrm>
          <a:prstGeom prst="rect">
            <a:avLst/>
          </a:prstGeom>
          <a:noFill/>
          <a:ln cap="flat" cmpd="sng" w="60325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4" name="Google Shape;444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3707" y="2377440"/>
            <a:ext cx="4565912" cy="4039793"/>
          </a:xfrm>
          <a:prstGeom prst="rect">
            <a:avLst/>
          </a:prstGeom>
          <a:noFill/>
          <a:ln cap="flat" cmpd="sng" w="6667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8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Alert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450" name="Google Shape;450;p48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 color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the </a:t>
            </a:r>
            <a:r>
              <a:rPr b="1" i="0" lang="en-US" sz="2800" u="none" cap="none" strike="noStrike">
                <a:solidFill>
                  <a:srgbClr val="003300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.alert-link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utility class to quickly provide matching colored links within any alert.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p48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48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GANGA\Desktop\download.jpg" id="453" name="Google Shape;4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54" name="Google Shape;45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548" y="2668039"/>
            <a:ext cx="8515350" cy="3699803"/>
          </a:xfrm>
          <a:prstGeom prst="rect">
            <a:avLst/>
          </a:prstGeom>
          <a:solidFill>
            <a:schemeClr val="lt1"/>
          </a:solidFill>
          <a:ln cap="flat" cmpd="sng" w="5397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9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Alert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460" name="Google Shape;460;p49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49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GANGA\Desktop\download.jpg" id="462" name="Google Shape;4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63" name="Google Shape;463;p49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9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5" name="Google Shape;465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871" y="1125875"/>
            <a:ext cx="10279252" cy="4606249"/>
          </a:xfrm>
          <a:prstGeom prst="rect">
            <a:avLst/>
          </a:prstGeom>
          <a:noFill/>
          <a:ln cap="flat" cmpd="sng" w="50800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0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Alert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471" name="Google Shape;471;p50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Similarly, you can use 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Icons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create alerts with icons. Depending on your icons and content, you may want to add more utilities or custom styles.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472" name="Google Shape;47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73" name="Google Shape;473;p50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50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5" name="Google Shape;475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7933" y="3147133"/>
            <a:ext cx="7624030" cy="2747230"/>
          </a:xfrm>
          <a:prstGeom prst="rect">
            <a:avLst/>
          </a:prstGeom>
          <a:noFill/>
          <a:ln cap="flat" cmpd="sng" w="508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1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Alert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481" name="Google Shape;481;p51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482" name="Google Shape;48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83" name="Google Shape;483;p51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51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Google Shape;485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703" y="1102684"/>
            <a:ext cx="11156415" cy="4819666"/>
          </a:xfrm>
          <a:prstGeom prst="rect">
            <a:avLst/>
          </a:prstGeom>
          <a:noFill/>
          <a:ln cap="flat" cmpd="sng" w="63500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2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Progress Bar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491" name="Google Shape;49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92" name="Google Shape;492;p52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52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52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 bar 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used to show how far a user is in a process.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.progress 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to create a default progress bar.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.progress-bar 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indicate the progress so far.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endParaRPr b="1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5" name="Google Shape;495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6973" y="3521123"/>
            <a:ext cx="9806896" cy="2838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3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Progress Bar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501" name="Google Shape;501;p53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 Bar Height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53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53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GANGA\Desktop\download.jpg" id="504" name="Google Shape;50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5" name="Google Shape;505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260" y="2043751"/>
            <a:ext cx="9739331" cy="1682088"/>
          </a:xfrm>
          <a:prstGeom prst="rect">
            <a:avLst/>
          </a:prstGeom>
          <a:noFill/>
          <a:ln cap="flat" cmpd="sng" w="63500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6" name="Google Shape;506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673" y="4361171"/>
            <a:ext cx="9557717" cy="1772343"/>
          </a:xfrm>
          <a:prstGeom prst="rect">
            <a:avLst/>
          </a:prstGeom>
          <a:noFill/>
          <a:ln cap="flat" cmpd="sng" w="66675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4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Progress Bar</a:t>
            </a:r>
            <a:endParaRPr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512" name="Google Shape;51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3" name="Google Shape;513;p54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54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54"/>
          <p:cNvSpPr txBox="1"/>
          <p:nvPr/>
        </p:nvSpPr>
        <p:spPr>
          <a:xfrm>
            <a:off x="818866" y="865415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 Bar Labels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6" name="Google Shape;516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6972" y="1785629"/>
            <a:ext cx="10011174" cy="1849828"/>
          </a:xfrm>
          <a:prstGeom prst="rect">
            <a:avLst/>
          </a:prstGeom>
          <a:noFill/>
          <a:ln cap="flat" cmpd="sng" w="60325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17" name="Google Shape;517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6972" y="4029675"/>
            <a:ext cx="10011174" cy="1878756"/>
          </a:xfrm>
          <a:prstGeom prst="rect">
            <a:avLst/>
          </a:prstGeom>
          <a:noFill/>
          <a:ln cap="flat" cmpd="sng" w="60325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5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Progress Bar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523" name="Google Shape;523;p55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Colored Progress Bars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default, the progress bar is blue (primary).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1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4" name="Google Shape;524;p55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GANGA\Desktop\download.jpg" id="525" name="Google Shape;52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6" name="Google Shape;526;p55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55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8" name="Google Shape;528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1970" y="2390848"/>
            <a:ext cx="9299309" cy="3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6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Progress Bar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534" name="Google Shape;534;p56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535" name="Google Shape;53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36" name="Google Shape;536;p56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56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8" name="Google Shape;538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234" y="1298014"/>
            <a:ext cx="11169748" cy="4512304"/>
          </a:xfrm>
          <a:prstGeom prst="rect">
            <a:avLst/>
          </a:prstGeom>
          <a:noFill/>
          <a:ln cap="flat" cmpd="sng" w="66675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7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Progress Bar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544" name="Google Shape;544;p57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Striped Progress Bars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the 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.progress-bar-striped </a:t>
            </a: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to add stripes to the progress bars.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545" name="Google Shape;54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46" name="Google Shape;546;p57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7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8" name="Google Shape;54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750" y="2467517"/>
            <a:ext cx="10682991" cy="1179510"/>
          </a:xfrm>
          <a:prstGeom prst="rect">
            <a:avLst/>
          </a:prstGeom>
          <a:noFill/>
          <a:ln cap="flat" cmpd="sng" w="44450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49" name="Google Shape;549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8749" y="3933630"/>
            <a:ext cx="10682991" cy="1800225"/>
          </a:xfrm>
          <a:prstGeom prst="rect">
            <a:avLst/>
          </a:prstGeom>
          <a:noFill/>
          <a:ln cap="flat" cmpd="sng" w="44450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8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Progress Bar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555" name="Google Shape;55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6" name="Google Shape;556;p58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58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8"/>
          <p:cNvSpPr txBox="1"/>
          <p:nvPr/>
        </p:nvSpPr>
        <p:spPr>
          <a:xfrm>
            <a:off x="818866" y="900332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Animated Progress Bar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Progress Bars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9" name="Google Shape;559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0612" y="1525503"/>
            <a:ext cx="10167030" cy="1057133"/>
          </a:xfrm>
          <a:prstGeom prst="rect">
            <a:avLst/>
          </a:prstGeom>
          <a:noFill/>
          <a:ln cap="flat" cmpd="sng" w="53975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60" name="Google Shape;560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1348" y="3119874"/>
            <a:ext cx="10202225" cy="1883391"/>
          </a:xfrm>
          <a:prstGeom prst="rect">
            <a:avLst/>
          </a:prstGeom>
          <a:noFill/>
          <a:ln cap="flat" cmpd="sng" w="53975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61" name="Google Shape;561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1203" y="5129877"/>
            <a:ext cx="10214574" cy="1473187"/>
          </a:xfrm>
          <a:prstGeom prst="rect">
            <a:avLst/>
          </a:prstGeom>
          <a:noFill/>
          <a:ln cap="flat" cmpd="sng" w="53975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0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Spacing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567" name="Google Shape;567;p60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 </a:t>
            </a:r>
            <a:r>
              <a:rPr b="1" i="1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property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is one of: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 - for classes that set margin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 - for classes that set padding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 </a:t>
            </a:r>
            <a:r>
              <a:rPr b="1" i="1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sides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is one of: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 - for classes that set margin-top or padding-top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 - for classes that set margin-bottom or padding-bottom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 - for classes that set both *-left and *-right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 - for classes that set both *-top and *-bottom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8" name="Google Shape;568;p60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60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GANGA\Desktop\download.jpg" id="570" name="Google Shape;57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1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Navbar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576" name="Google Shape;576;p61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443865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navigation bar is a </a:t>
            </a:r>
            <a:r>
              <a:rPr b="1" i="0" lang="en-US" sz="2800" u="none" cap="none" strike="noStrike">
                <a:solidFill>
                  <a:srgbClr val="800000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navigation header</a:t>
            </a:r>
            <a:r>
              <a:rPr b="0" i="0" lang="en-US" sz="2800" u="none" cap="none" strike="noStrike">
                <a:solidFill>
                  <a:srgbClr val="003300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that is placed at the top of the page.</a:t>
            </a:r>
            <a:endParaRPr b="0" i="0" sz="1400" u="none" cap="none" strike="noStrike">
              <a:solidFill>
                <a:srgbClr val="00000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443865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Navbars require a wrapping 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.navbar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with .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navbar-expand{-sm|-md|-lg|-xl|-xxl}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for responsive collapsing and color scheme classes.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3865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Navbars and their contents are fluid by default. Change the container to limit their horizontal width in different ways.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3865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Navbars are responsive by default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but you can easily modify them to change that.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7" name="Google Shape;577;p61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GANGA\Desktop\download.jpg" id="578" name="Google Shape;57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9" name="Google Shape;579;p61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61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1" name="Google Shape;581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5243" y="5002075"/>
            <a:ext cx="8012113" cy="704850"/>
          </a:xfrm>
          <a:prstGeom prst="rect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2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Navbar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587" name="Google Shape;587;p62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add links inside the navbar, use either an 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&lt;ul&gt;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element (or a &lt;div&gt;) 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 class="navbar-nav".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add 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&lt;li&gt;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elements 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a .nav-item class followed by an &lt;a&gt; element with a .nav-link class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588" name="Google Shape;58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89" name="Google Shape;589;p62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62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1" name="Google Shape;591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" y="3591687"/>
            <a:ext cx="10708880" cy="1962951"/>
          </a:xfrm>
          <a:prstGeom prst="rect">
            <a:avLst/>
          </a:prstGeom>
          <a:noFill/>
          <a:ln cap="flat" cmpd="sng" w="44450">
            <a:solidFill>
              <a:srgbClr val="0033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3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Navbar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597" name="Google Shape;597;p63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the 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.navbar-expand-* class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create a navigation bar that will always be 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vertical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598" name="Google Shape;59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99" name="Google Shape;599;p63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63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1" name="Google Shape;601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619" y="2070100"/>
            <a:ext cx="5490369" cy="4051300"/>
          </a:xfrm>
          <a:prstGeom prst="rect">
            <a:avLst/>
          </a:prstGeom>
          <a:noFill/>
          <a:ln cap="flat" cmpd="sng" w="349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602" name="Google Shape;602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85588" y="2463800"/>
            <a:ext cx="5775325" cy="2692400"/>
          </a:xfrm>
          <a:prstGeom prst="rect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4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Navbar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608" name="Google Shape;60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09" name="Google Shape;609;p64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64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64"/>
          <p:cNvSpPr txBox="1"/>
          <p:nvPr/>
        </p:nvSpPr>
        <p:spPr>
          <a:xfrm>
            <a:off x="818875" y="914400"/>
            <a:ext cx="11136600" cy="47802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Centered Navbar</a:t>
            </a:r>
            <a:endParaRPr b="1" i="0" sz="2800" u="none" cap="none" strike="noStrike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3865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highlight>
                  <a:srgbClr val="FCE5CD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Add the .</a:t>
            </a:r>
            <a:r>
              <a:rPr b="1" i="0" lang="en-US" sz="2800" u="none" cap="none" strike="noStrike">
                <a:solidFill>
                  <a:srgbClr val="800000"/>
                </a:solidFill>
                <a:highlight>
                  <a:srgbClr val="FCE5CD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justify-content-center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class to center the navigation bar.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Colored Navbar</a:t>
            </a:r>
            <a:endParaRPr b="1" i="0" sz="2800" u="none" cap="none" strike="noStrike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3865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any of the .bg-color classes to change the background color of the navbar.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none" cap="none" strike="noStrike">
                <a:solidFill>
                  <a:srgbClr val="800000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(.bg-primary, .bg-success, .bg-info, .bg-warning etc)</a:t>
            </a:r>
            <a:r>
              <a:rPr b="0" i="0" lang="en-US" sz="2800" u="none" cap="none" strike="noStrike">
                <a:solidFill>
                  <a:srgbClr val="003300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2800" u="none" cap="none" strike="noStrike">
              <a:solidFill>
                <a:srgbClr val="003300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2" name="Google Shape;612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1563" y="2344894"/>
            <a:ext cx="10402887" cy="752475"/>
          </a:xfrm>
          <a:prstGeom prst="rect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613" name="Google Shape;613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1575" y="5694605"/>
            <a:ext cx="10345725" cy="1252700"/>
          </a:xfrm>
          <a:prstGeom prst="rect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5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Navbar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619" name="Google Shape;61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20" name="Google Shape;620;p65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65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65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Brand / 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 .navbar-brand class is used to highlight the 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brand/logo/project name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your page.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using the 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.navbar-brand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class with images, Bootstrap 5 will automatically style the image to fit the navbar vertically.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3" name="Google Shape;623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6200" y="4589463"/>
            <a:ext cx="9436100" cy="16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6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Navbar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629" name="Google Shape;629;p66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Navbar With Dropdown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0" name="Google Shape;630;p66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66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GANGA\Desktop\download.jpg" id="632" name="Google Shape;63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33" name="Google Shape;633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200" y="2136228"/>
            <a:ext cx="9867899" cy="2257972"/>
          </a:xfrm>
          <a:prstGeom prst="rect">
            <a:avLst/>
          </a:prstGeom>
          <a:noFill/>
          <a:ln cap="flat" cmpd="sng" w="349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634" name="Google Shape;634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593" y="4686300"/>
            <a:ext cx="9892507" cy="1509784"/>
          </a:xfrm>
          <a:prstGeom prst="rect">
            <a:avLst/>
          </a:prstGeom>
          <a:noFill/>
          <a:ln cap="flat" cmpd="sng" w="349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7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Navbar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640" name="Google Shape;640;p67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 Navigation Bar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navigation bar can also be fixed at the top or at the bottom of the page.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0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.fixed-top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makes the navigation bar fixed at the top.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the </a:t>
            </a:r>
            <a:r>
              <a:rPr b="0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.fixed-bottom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to make the navbar stay at the bottom of the page.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641" name="Google Shape;641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2" name="Google Shape;642;p67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67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4" name="Google Shape;644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0193" y="2269345"/>
            <a:ext cx="7455587" cy="880636"/>
          </a:xfrm>
          <a:prstGeom prst="rect">
            <a:avLst/>
          </a:prstGeom>
          <a:noFill/>
          <a:ln cap="flat" cmpd="sng" w="44450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45" name="Google Shape;645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76093" y="4554010"/>
            <a:ext cx="9974774" cy="1718922"/>
          </a:xfrm>
          <a:prstGeom prst="rect">
            <a:avLst/>
          </a:prstGeom>
          <a:noFill/>
          <a:ln cap="flat" cmpd="sng" w="47625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8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Navbar/Tabs/Pills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68"/>
          <p:cNvSpPr txBox="1"/>
          <p:nvPr/>
        </p:nvSpPr>
        <p:spPr>
          <a:xfrm>
            <a:off x="0" y="865320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</a:t>
            </a:r>
            <a:endParaRPr b="1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r>
              <a:t/>
            </a:r>
            <a:endParaRPr b="1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r>
              <a:t/>
            </a:r>
            <a:endParaRPr b="1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Pill</a:t>
            </a:r>
            <a:endParaRPr b="1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652" name="Google Shape;652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3" name="Google Shape;653;p68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68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5" name="Google Shape;655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8423" y="1247305"/>
            <a:ext cx="10208524" cy="1390650"/>
          </a:xfrm>
          <a:prstGeom prst="rect">
            <a:avLst/>
          </a:prstGeom>
          <a:noFill/>
          <a:ln cap="flat" cmpd="sng" w="73025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56" name="Google Shape;656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78424" y="2862531"/>
            <a:ext cx="10208524" cy="1400175"/>
          </a:xfrm>
          <a:prstGeom prst="rect">
            <a:avLst/>
          </a:prstGeom>
          <a:noFill/>
          <a:ln cap="flat" cmpd="sng" w="730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57" name="Google Shape;657;p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78424" y="4545779"/>
            <a:ext cx="10208524" cy="1533525"/>
          </a:xfrm>
          <a:prstGeom prst="rect">
            <a:avLst/>
          </a:prstGeom>
          <a:noFill/>
          <a:ln cap="flat" cmpd="sng" w="73025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69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Navbar/Tabs/Pills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663" name="Google Shape;66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64" name="Google Shape;664;p69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69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69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 want to create a horizontal menu of the list , add the 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.list-inline class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&lt;ul&gt;</a:t>
            </a:r>
            <a:r>
              <a:rPr b="0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800" u="none" cap="none" strike="noStrike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7" name="Google Shape;667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7026" y="2422904"/>
            <a:ext cx="4728239" cy="3771834"/>
          </a:xfrm>
          <a:prstGeom prst="rect">
            <a:avLst/>
          </a:prstGeom>
          <a:noFill/>
          <a:ln cap="flat" cmpd="sng" w="44450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68" name="Google Shape;668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6302" y="3487946"/>
            <a:ext cx="4996056" cy="1637730"/>
          </a:xfrm>
          <a:prstGeom prst="rect">
            <a:avLst/>
          </a:prstGeom>
          <a:noFill/>
          <a:ln cap="flat" cmpd="sng" w="53975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70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Navbar/Tabs/Pills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674" name="Google Shape;674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75" name="Google Shape;675;p70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70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70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Tabs</a:t>
            </a:r>
            <a:endParaRPr b="1" i="0" sz="2800" u="none" cap="none" strike="noStrike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Tabs are created with 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&lt;ul class="nav nav-tabs"&gt;.</a:t>
            </a:r>
            <a:endParaRPr b="1" i="0" sz="2800" u="none" cap="none" strike="noStrike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 Also mark the 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page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&lt;li class="active"&gt;.</a:t>
            </a:r>
            <a:endParaRPr b="1" i="0" sz="2800" u="none" cap="none" strike="noStrike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78" name="Google Shape;678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3482" y="3302759"/>
            <a:ext cx="5226118" cy="2429514"/>
          </a:xfrm>
          <a:prstGeom prst="rect">
            <a:avLst/>
          </a:prstGeom>
          <a:noFill/>
          <a:ln cap="flat" cmpd="sng" w="66675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79" name="Google Shape;679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310" y="653300"/>
            <a:ext cx="9752305" cy="874168"/>
          </a:xfrm>
          <a:prstGeom prst="rect">
            <a:avLst/>
          </a:prstGeom>
          <a:noFill/>
          <a:ln cap="flat" cmpd="sng" w="38100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1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Navbar/Tabs/Pills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685" name="Google Shape;685;p71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Tabs With Dropdown Menu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6" name="Google Shape;686;p71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71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GANGA\Desktop\download.jpg" id="688" name="Google Shape;688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89" name="Google Shape;689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5998" y="4633314"/>
            <a:ext cx="3933825" cy="1914525"/>
          </a:xfrm>
          <a:prstGeom prst="rect">
            <a:avLst/>
          </a:prstGeom>
          <a:noFill/>
          <a:ln cap="flat" cmpd="sng" w="53975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90" name="Google Shape;690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209" y="1655215"/>
            <a:ext cx="8315325" cy="2828925"/>
          </a:xfrm>
          <a:prstGeom prst="rect">
            <a:avLst/>
          </a:prstGeom>
          <a:noFill/>
          <a:ln cap="flat" cmpd="sng" w="476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72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Navbar/Tabs/Pills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696" name="Google Shape;696;p72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Pills are created with 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&lt;ul class="nav nav-pills"&gt;.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Also mark the 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page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&lt;li class="active"&gt;.</a:t>
            </a:r>
            <a:endParaRPr b="1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7" name="Google Shape;697;p72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GANGA\Desktop\download.jpg" id="698" name="Google Shape;698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99" name="Google Shape;699;p72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72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1" name="Google Shape;701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1970" y="3249919"/>
            <a:ext cx="4734293" cy="2630375"/>
          </a:xfrm>
          <a:prstGeom prst="rect">
            <a:avLst/>
          </a:prstGeom>
          <a:noFill/>
          <a:ln cap="flat" cmpd="sng" w="603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02" name="Google Shape;702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9097" y="3709322"/>
            <a:ext cx="4723506" cy="1115896"/>
          </a:xfrm>
          <a:prstGeom prst="rect">
            <a:avLst/>
          </a:prstGeom>
          <a:noFill/>
          <a:ln cap="flat" cmpd="sng" w="57150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73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Navbar/Tabs/Pills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708" name="Google Shape;708;p73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Vertical Pills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Pills can also be displayed vertically. Just add the 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.nav-stacked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class.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709" name="Google Shape;709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10" name="Google Shape;710;p73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73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2" name="Google Shape;712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6491" y="4096570"/>
            <a:ext cx="6101348" cy="1895475"/>
          </a:xfrm>
          <a:prstGeom prst="rect">
            <a:avLst/>
          </a:prstGeom>
          <a:noFill/>
          <a:ln cap="flat" cmpd="sng" w="63500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13" name="Google Shape;713;p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2710" y="2494408"/>
            <a:ext cx="4105275" cy="1304925"/>
          </a:xfrm>
          <a:prstGeom prst="rect">
            <a:avLst/>
          </a:prstGeom>
          <a:noFill/>
          <a:ln cap="flat" cmpd="sng" w="63500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74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Modal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719" name="Google Shape;719;p74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Bootstrap’s JavaScript modal plugin to add dialogs to your site for lightboxes, user notifications, or completely custom content.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720" name="Google Shape;720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1" name="Google Shape;721;p74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74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3" name="Google Shape;723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4474" y="2210937"/>
            <a:ext cx="10047383" cy="3821373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75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Modal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729" name="Google Shape;729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30" name="Google Shape;730;p75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75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75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33" name="Google Shape;733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3706" y="3765863"/>
            <a:ext cx="10164854" cy="2428875"/>
          </a:xfrm>
          <a:prstGeom prst="rect">
            <a:avLst/>
          </a:prstGeom>
          <a:noFill/>
          <a:ln cap="flat" cmpd="sng" w="635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34" name="Google Shape;734;p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3706" y="1373344"/>
            <a:ext cx="10164854" cy="2101376"/>
          </a:xfrm>
          <a:prstGeom prst="rect">
            <a:avLst/>
          </a:prstGeom>
          <a:noFill/>
          <a:ln cap="flat" cmpd="sng" w="635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76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Modal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740" name="Google Shape;740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41" name="Google Shape;741;p76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76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76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animation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the .fade class to add a fading effect when opening and closing the modal.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Modal 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the size class to the &lt;div&gt; element with class 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.modal-dialog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.modal-sm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for small modals.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.modal-lg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for large modals  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.modal-xl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extra large modals 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44" name="Google Shape;744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1988" y="2402516"/>
            <a:ext cx="5449452" cy="1482125"/>
          </a:xfrm>
          <a:prstGeom prst="rect">
            <a:avLst/>
          </a:prstGeom>
          <a:noFill/>
          <a:ln cap="flat" cmpd="sng" w="4445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45" name="Google Shape;745;p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1988" y="4650196"/>
            <a:ext cx="5449452" cy="617956"/>
          </a:xfrm>
          <a:prstGeom prst="rect">
            <a:avLst/>
          </a:prstGeom>
          <a:noFill/>
          <a:ln cap="flat" cmpd="sng" w="57150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77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Modal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751" name="Google Shape;751;p77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Screen Modals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 want the modal to span the whole width and height of the page, use the 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.modal-fullscreen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Responsive Full Screen Modals-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modal-fullscreen-*-*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2" name="Google Shape;752;p77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77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GANGA\Desktop\download.jpg" id="754" name="Google Shape;754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755" name="Google Shape;755;p77"/>
          <p:cNvGraphicFramePr/>
          <p:nvPr/>
        </p:nvGraphicFramePr>
        <p:xfrm>
          <a:off x="1305890" y="38746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{73412568-2F88-406E-9F32-8ED3A80C9F49}</a:tableStyleId>
              </a:tblPr>
              <a:tblGrid>
                <a:gridCol w="3046875"/>
                <a:gridCol w="46138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</a:t>
                      </a:r>
                      <a:endParaRPr sz="1400" u="none" cap="none" strike="noStrike"/>
                    </a:p>
                  </a:txBody>
                  <a:tcPr marT="76200" marB="76200" marR="76200" marL="152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400" u="none" cap="none" strike="noStrike"/>
                    </a:p>
                  </a:txBody>
                  <a:tcPr marT="76200" marB="762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.modal-fullscreen-sm-down</a:t>
                      </a:r>
                      <a:endParaRPr sz="1400" u="none" cap="none" strike="noStrike"/>
                    </a:p>
                  </a:txBody>
                  <a:tcPr marT="76200" marB="76200" marR="76200" marL="152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Fullscreen below 576px</a:t>
                      </a:r>
                      <a:endParaRPr sz="1400" u="none" cap="none" strike="noStrike"/>
                    </a:p>
                  </a:txBody>
                  <a:tcPr marT="76200" marB="762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.modal-fullscreen-md-down</a:t>
                      </a:r>
                      <a:endParaRPr sz="1400" u="none" cap="none" strike="noStrike"/>
                    </a:p>
                  </a:txBody>
                  <a:tcPr marT="76200" marB="76200" marR="76200" marL="152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Fullscreen below 768px</a:t>
                      </a:r>
                      <a:endParaRPr sz="1400" u="none" cap="none" strike="noStrike"/>
                    </a:p>
                  </a:txBody>
                  <a:tcPr marT="76200" marB="762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.modal-fullscreen-lg-down</a:t>
                      </a:r>
                      <a:endParaRPr sz="1400" u="none" cap="none" strike="noStrike"/>
                    </a:p>
                  </a:txBody>
                  <a:tcPr marT="76200" marB="76200" marR="76200" marL="152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Fullscreen below 992px</a:t>
                      </a:r>
                      <a:endParaRPr sz="1400" u="none" cap="none" strike="noStrike"/>
                    </a:p>
                  </a:txBody>
                  <a:tcPr marT="76200" marB="762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.modal-fullscreen-xl-down</a:t>
                      </a:r>
                      <a:endParaRPr sz="1400" u="none" cap="none" strike="noStrike"/>
                    </a:p>
                  </a:txBody>
                  <a:tcPr marT="76200" marB="76200" marR="76200" marL="152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Fullscreen below 1200px</a:t>
                      </a:r>
                      <a:endParaRPr sz="1400" u="none" cap="none" strike="noStrike"/>
                    </a:p>
                  </a:txBody>
                  <a:tcPr marT="76200" marB="762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.modal-fullscreen-xxl-down</a:t>
                      </a:r>
                      <a:endParaRPr sz="1400" u="none" cap="none" strike="noStrike"/>
                    </a:p>
                  </a:txBody>
                  <a:tcPr marT="76200" marB="76200" marR="76200" marL="152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Fullscreen below 1400px</a:t>
                      </a:r>
                      <a:endParaRPr sz="1400" u="none" cap="none" strike="noStrike"/>
                    </a:p>
                  </a:txBody>
                  <a:tcPr marT="76200" marB="762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78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Form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761" name="Google Shape;761;p78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provides several classes for forms.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form-group: 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and Replaced by the Grid System in BS5</a:t>
            </a:r>
            <a:endParaRPr b="1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responsible to maintain proper space between elements so that elements will be arranged properly.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form-control: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class is responsible to make width as 100% for elements &lt;input&gt;, &lt;textarea&gt;, and &lt;select&gt;. It is also responsible for border styling. 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2" name="Google Shape;762;p78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GANGA\Desktop\download.jpg" id="763" name="Google Shape;763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64" name="Google Shape;764;p78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78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79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Form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771" name="Google Shape;771;p79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772" name="Google Shape;772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73" name="Google Shape;773;p79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79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5" name="Google Shape;775;p79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5909" y="1214344"/>
            <a:ext cx="11068335" cy="4817272"/>
          </a:xfrm>
          <a:prstGeom prst="rect">
            <a:avLst/>
          </a:prstGeom>
          <a:noFill/>
          <a:ln cap="flat" cmpd="sng" w="66675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80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Form</a:t>
            </a:r>
            <a:r>
              <a:rPr b="1" i="0" lang="en-US" sz="3600" u="none" cap="none" strike="noStrike">
                <a:solidFill>
                  <a:srgbClr val="860000"/>
                </a:solidFill>
                <a:latin typeface="Marcellus"/>
                <a:ea typeface="Marcellus"/>
                <a:cs typeface="Marcellus"/>
                <a:sym typeface="Marcellus"/>
              </a:rPr>
              <a:t> </a:t>
            </a: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1" name="Google Shape;781;p80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.was-validated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.needs-validation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&lt;form&gt; element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depending on whether you want to provide validation feedback before or after submitting the form. 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input fields will have a 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 (valid)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 (invalid)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border to indicate what's missing in the form. 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also add a 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.valid-feedback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  <a:r>
              <a:rPr b="1" i="0" lang="en-US" sz="2800" u="none" cap="none" strike="noStrik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.invalid-feedback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 to tell the user explicitly what's missing, or needs to be done before submitting the form.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782" name="Google Shape;782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3" name="Google Shape;783;p80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80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81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Form</a:t>
            </a:r>
            <a:r>
              <a:rPr b="1" lang="en-US" sz="3600">
                <a:solidFill>
                  <a:srgbClr val="860000"/>
                </a:solidFill>
                <a:latin typeface="Marcellus"/>
                <a:ea typeface="Marcellus"/>
                <a:cs typeface="Marcellus"/>
                <a:sym typeface="Marcellus"/>
              </a:rPr>
              <a:t> </a:t>
            </a: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790" name="Google Shape;790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1" name="Google Shape;791;p81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81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81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4" name="Google Shape;794;p81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156" y="1037229"/>
            <a:ext cx="10654031" cy="5404513"/>
          </a:xfrm>
          <a:prstGeom prst="rect">
            <a:avLst/>
          </a:prstGeom>
          <a:noFill/>
          <a:ln cap="flat" cmpd="sng" w="53975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2020-04-30T07:52:47Z</dcterms:created>
  <dc:creator>Aditi  Rajani</dc:creator>
</cp:coreProperties>
</file>