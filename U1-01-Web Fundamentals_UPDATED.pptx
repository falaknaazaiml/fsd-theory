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95" r:id="rId3"/>
    <p:sldId id="296" r:id="rId4"/>
    <p:sldId id="297" r:id="rId5"/>
    <p:sldId id="298" r:id="rId6"/>
    <p:sldId id="257" r:id="rId7"/>
    <p:sldId id="299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2192000" cy="6858000"/>
  <p:notesSz cx="6858000" cy="9144000"/>
  <p:embeddedFontLst>
    <p:embeddedFont>
      <p:font typeface="Calibri" pitchFamily="34" charset="0"/>
      <p:regular r:id="rId46"/>
      <p:bold r:id="rId47"/>
      <p:italic r:id="rId48"/>
      <p:boldItalic r:id="rId49"/>
    </p:embeddedFont>
    <p:embeddedFont>
      <p:font typeface="Marcellus" charset="0"/>
      <p:regular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h/PJxyfC6sydsxU7oNA+BPXs+u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9110F1E6-D530-4BA8-99FE-80ACF66D1318}">
  <a:tblStyle styleId="{9110F1E6-D530-4BA8-99FE-80ACF66D131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FEB"/>
          </a:solidFill>
        </a:fill>
      </a:tcStyle>
    </a:wholeTbl>
    <a:band1H>
      <a:tcTxStyle/>
      <a:tcStyle>
        <a:tcBdr/>
        <a:fill>
          <a:solidFill>
            <a:srgbClr val="CBDDD5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DD5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3" d="100"/>
          <a:sy n="93" d="100"/>
        </p:scale>
        <p:origin x="-42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895097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4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4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" name="Google Shape;85;p1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818866" y="139064"/>
            <a:ext cx="11136573" cy="6581104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22CAC09N</a:t>
            </a:r>
            <a:endParaRPr sz="4800" b="0" i="0" u="none" strike="noStrike" cap="none" dirty="0">
              <a:solidFill>
                <a:srgbClr val="6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STACK </a:t>
            </a:r>
            <a:r>
              <a:rPr lang="en-US" sz="4800" b="1" i="0" u="none" strike="noStrike" cap="none" dirty="0" smtClean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90673" y="4061138"/>
            <a:ext cx="2562225" cy="2133600"/>
          </a:xfrm>
          <a:prstGeom prst="rect">
            <a:avLst/>
          </a:prstGeom>
          <a:noFill/>
          <a:ln w="50800" cap="flat" cmpd="sng">
            <a:solidFill>
              <a:srgbClr val="6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9793" y="3013658"/>
            <a:ext cx="2707959" cy="3416121"/>
          </a:xfrm>
          <a:prstGeom prst="rect">
            <a:avLst/>
          </a:prstGeom>
          <a:noFill/>
          <a:ln w="50800" cap="flat" cmpd="sng">
            <a:solidFill>
              <a:srgbClr val="071D0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26985"/>
          </a:xfrm>
        </p:spPr>
        <p:txBody>
          <a:bodyPr>
            <a:normAutofit/>
          </a:bodyPr>
          <a:lstStyle/>
          <a:p>
            <a:r>
              <a:rPr lang="en-IN" sz="4000" dirty="0" smtClean="0"/>
              <a:t>ABOUT IMAGE</a:t>
            </a:r>
            <a:endParaRPr lang="en-IN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50040"/>
            <a:ext cx="9705654" cy="3791164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MERN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is a popular </a:t>
            </a: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Full Stack Web Development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stack consisting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of four technologies:</a:t>
            </a:r>
          </a:p>
          <a:p>
            <a:pPr algn="l"/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     M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Express.js</a:t>
            </a:r>
            <a:br>
              <a:rPr lang="en-IN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→ React.js</a:t>
            </a:r>
            <a:br>
              <a:rPr lang="en-IN" sz="2800" dirty="0">
                <a:latin typeface="Times New Roman" pitchFamily="18" charset="0"/>
                <a:cs typeface="Times New Roman" pitchFamily="18" charset="0"/>
              </a:rPr>
            </a:b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→ Node.js</a:t>
            </a:r>
          </a:p>
        </p:txBody>
      </p:sp>
    </p:spTree>
    <p:extLst>
      <p:ext uri="{BB962C8B-B14F-4D97-AF65-F5344CB8AC3E}">
        <p14:creationId xmlns:p14="http://schemas.microsoft.com/office/powerpoint/2010/main" val="3145431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744810"/>
              </p:ext>
            </p:extLst>
          </p:nvPr>
        </p:nvGraphicFramePr>
        <p:xfrm>
          <a:off x="838200" y="698644"/>
          <a:ext cx="10515600" cy="526861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408419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itchFamily="18" charset="0"/>
                          <a:cs typeface="Times New Roman" pitchFamily="18" charset="0"/>
                        </a:rPr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itchFamily="18" charset="0"/>
                          <a:cs typeface="Times New Roman" pitchFamily="18" charset="0"/>
                        </a:rPr>
                        <a:t>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itchFamily="18" charset="0"/>
                          <a:cs typeface="Times New Roman" pitchFamily="18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313">
                <a:tc>
                  <a:txBody>
                    <a:bodyPr/>
                    <a:lstStyle/>
                    <a:p>
                      <a:r>
                        <a:rPr lang="en-IN" dirty="0" smtClean="0"/>
                        <a:t> </a:t>
                      </a:r>
                      <a:r>
                        <a:rPr lang="en-IN" dirty="0"/>
                        <a:t>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MongoDB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Stores application data in a NoSQL database using JSON-like documents.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313">
                <a:tc>
                  <a:txBody>
                    <a:bodyPr/>
                    <a:lstStyle/>
                    <a:p>
                      <a:r>
                        <a:rPr lang="en-IN" dirty="0" smtClean="0"/>
                        <a:t> </a:t>
                      </a:r>
                      <a:r>
                        <a:rPr lang="en-IN" dirty="0"/>
                        <a:t>Neck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Node.js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Server-side runtime environment that executes JavaScript code.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313">
                <a:tc>
                  <a:txBody>
                    <a:bodyPr/>
                    <a:lstStyle/>
                    <a:p>
                      <a:r>
                        <a:rPr lang="en-IN" dirty="0" smtClean="0"/>
                        <a:t> </a:t>
                      </a:r>
                      <a:r>
                        <a:rPr lang="en-IN" dirty="0"/>
                        <a:t>Chest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Express.js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Backend web framework for handling routes, APIs, and server logic.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313">
                <a:tc>
                  <a:txBody>
                    <a:bodyPr/>
                    <a:lstStyle/>
                    <a:p>
                      <a:r>
                        <a:rPr lang="en-IN" dirty="0" smtClean="0"/>
                        <a:t> </a:t>
                      </a:r>
                      <a:r>
                        <a:rPr lang="en-IN" dirty="0" err="1"/>
                        <a:t>Center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Frontend library used to build interactive user interfaces.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313">
                <a:tc>
                  <a:txBody>
                    <a:bodyPr/>
                    <a:lstStyle/>
                    <a:p>
                      <a:r>
                        <a:rPr lang="en-IN" dirty="0" smtClean="0"/>
                        <a:t> </a:t>
                      </a:r>
                      <a:r>
                        <a:rPr lang="en-IN" dirty="0"/>
                        <a:t>Arm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JavaScript (JS)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Programming language used throughout the stack.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313">
                <a:tc>
                  <a:txBody>
                    <a:bodyPr/>
                    <a:lstStyle/>
                    <a:p>
                      <a:r>
                        <a:rPr lang="en-IN" dirty="0" smtClean="0"/>
                        <a:t> </a:t>
                      </a:r>
                      <a:r>
                        <a:rPr lang="en-IN" dirty="0"/>
                        <a:t>Lower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Styles the web pages and controls appearance.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313">
                <a:tc>
                  <a:txBody>
                    <a:bodyPr/>
                    <a:lstStyle/>
                    <a:p>
                      <a:r>
                        <a:rPr lang="en-IN" dirty="0" smtClean="0"/>
                        <a:t> </a:t>
                      </a:r>
                      <a:r>
                        <a:rPr lang="en-IN" dirty="0"/>
                        <a:t>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Defines the structure and content of web pages.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163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78787" y="2521059"/>
            <a:ext cx="8938516" cy="255454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How They Work Together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creates the webpage structure. 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CSS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styles the webpage. 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adds interactivity. 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React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builds dynamic frontend user interfaces. 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Express.js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handles API requests on the server. 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Node.js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runs the backend JavaScript code. </a:t>
            </a:r>
          </a:p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stores and retrieves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14508" y="2413338"/>
            <a:ext cx="286649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 smtClean="0"/>
          </a:p>
          <a:p>
            <a:endParaRPr lang="en-IN" dirty="0"/>
          </a:p>
          <a:p>
            <a:r>
              <a:rPr lang="en-IN" sz="1600" b="1" dirty="0" smtClean="0">
                <a:latin typeface="Times New Roman" pitchFamily="18" charset="0"/>
                <a:cs typeface="Times New Roman" pitchFamily="18" charset="0"/>
              </a:rPr>
              <a:t>User</a:t>
            </a: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  ↓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React (Frontend/UI)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  ↓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Express.js (API Routes)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  ↓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Node.js (Server Runtime)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  ↓</a:t>
            </a:r>
          </a:p>
          <a:p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 (Database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4257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79890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COURSE OUTCOMES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08944"/>
            <a:ext cx="9144000" cy="4356243"/>
          </a:xfrm>
        </p:spPr>
        <p:txBody>
          <a:bodyPr>
            <a:noAutofit/>
          </a:bodyPr>
          <a:lstStyle/>
          <a:p>
            <a:pPr marL="508000" indent="-457200" algn="l">
              <a:buFont typeface="+mj-lt"/>
              <a:buAutoNum type="arabicPeriod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Design responsive web pages using HTML, CSS, and Bootstrap. 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08000" indent="-457200" algn="l">
              <a:buFont typeface="+mj-lt"/>
              <a:buAutoNum type="arabicPeriod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Develop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interactive client-side features using JavaScript and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AJAX.</a:t>
            </a:r>
          </a:p>
          <a:p>
            <a:pPr marL="508000" indent="-457200" algn="l">
              <a:buFont typeface="+mj-lt"/>
              <a:buAutoNum type="arabicPeriod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Build single-page applications with React and its core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features.</a:t>
            </a:r>
          </a:p>
          <a:p>
            <a:pPr marL="508000" indent="-457200" algn="l">
              <a:buFont typeface="+mj-lt"/>
              <a:buAutoNum type="arabicPeriod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Create backend services using Node.js and Express.js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08000" indent="-457200" algn="l">
              <a:buFont typeface="+mj-lt"/>
              <a:buAutoNum type="arabicPeriod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Perform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CRUD operations and schema design using </a:t>
            </a:r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8229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600000"/>
              </a:buClr>
              <a:buSzPts val="3200"/>
            </a:pPr>
            <a:r>
              <a:rPr lang="en-US" sz="2400" dirty="0">
                <a:solidFill>
                  <a:srgbClr val="600000"/>
                </a:solidFill>
              </a:rPr>
              <a:t/>
            </a:r>
            <a:br>
              <a:rPr lang="en-US" sz="2400" dirty="0">
                <a:solidFill>
                  <a:srgbClr val="600000"/>
                </a:solidFill>
              </a:rPr>
            </a:br>
            <a:r>
              <a:rPr lang="en-US" sz="24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22CAC09N </a:t>
            </a:r>
            <a:r>
              <a:rPr lang="en-US" sz="2400" b="1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</a:t>
            </a:r>
            <a:r>
              <a:rPr lang="en-US" sz="24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STACK DEVELOPMENT</a:t>
            </a:r>
            <a:endParaRPr sz="2400" dirty="0"/>
          </a:p>
        </p:txBody>
      </p:sp>
      <p:pic>
        <p:nvPicPr>
          <p:cNvPr id="95" name="Google Shape;95;p2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6" name="Google Shape;96;p2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just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Stack Development:</a:t>
            </a:r>
            <a:r>
              <a:rPr lang="en-US" sz="2800" b="0" i="0" u="none" strike="noStrike" cap="none" dirty="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dirty="0"/>
          </a:p>
          <a:p>
            <a:pPr marL="0" marR="0" lvl="0" indent="0" algn="just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8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refers to the development of both </a:t>
            </a:r>
            <a:r>
              <a:rPr lang="en-US" sz="2800" b="1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 end</a:t>
            </a:r>
            <a:r>
              <a:rPr lang="en-US" sz="28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(client side) and </a:t>
            </a:r>
            <a:r>
              <a:rPr lang="en-US" sz="2800" b="1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end</a:t>
            </a:r>
            <a:r>
              <a:rPr lang="en-US" sz="28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(server side) portions of web application.</a:t>
            </a:r>
            <a:endParaRPr dirty="0"/>
          </a:p>
          <a:p>
            <a:pPr marL="0" marR="0" lvl="0" indent="0" algn="just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Stack Web Developers:</a:t>
            </a:r>
            <a:endParaRPr dirty="0"/>
          </a:p>
          <a:p>
            <a:pPr marL="0" marR="0" lvl="0" indent="0" algn="just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28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full stack developer is one who is comfortable working with both backend and frontend technologies.</a:t>
            </a:r>
            <a:endParaRPr sz="2800" b="0" i="0" u="none" strike="noStrike" cap="none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0431" y="2219218"/>
            <a:ext cx="9527569" cy="4510355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200000"/>
              </a:lnSpc>
              <a:spcBef>
                <a:spcPts val="0"/>
              </a:spcBef>
            </a:pPr>
            <a:r>
              <a:rPr lang="en-US" sz="7200" b="1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UNIT-I</a:t>
            </a:r>
          </a:p>
          <a:p>
            <a:pPr marL="0" lvl="0" indent="0" algn="just">
              <a:lnSpc>
                <a:spcPct val="200000"/>
              </a:lnSpc>
              <a:spcBef>
                <a:spcPts val="0"/>
              </a:spcBef>
            </a:pPr>
            <a:r>
              <a:rPr lang="en-US" sz="7200" b="1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Full </a:t>
            </a:r>
            <a:r>
              <a:rPr lang="en-US" sz="7200" b="1" dirty="0" err="1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r>
              <a:rPr lang="en-US" sz="7200" b="1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Development: HTML 5.0 </a:t>
            </a:r>
          </a:p>
          <a:p>
            <a:pPr marL="0" lvl="0" indent="0" algn="just">
              <a:lnSpc>
                <a:spcPct val="200000"/>
              </a:lnSpc>
              <a:spcBef>
                <a:spcPts val="0"/>
              </a:spcBef>
            </a:pPr>
            <a:r>
              <a:rPr lang="en-US" sz="6400" dirty="0" smtClean="0">
                <a:latin typeface="Times New Roman" pitchFamily="18" charset="0"/>
                <a:cs typeface="Times New Roman" pitchFamily="18" charset="0"/>
              </a:rPr>
              <a:t>Introduction to basic HTML tags, HTML DOM, Working with Images, Tables, Lists, Forms, Layout elements, Usage of span and div tags for layout structuring</a:t>
            </a:r>
          </a:p>
          <a:p>
            <a:pPr marL="0" lvl="0" indent="0" algn="just">
              <a:lnSpc>
                <a:spcPct val="200000"/>
              </a:lnSpc>
              <a:spcBef>
                <a:spcPts val="0"/>
              </a:spcBef>
            </a:pPr>
            <a:r>
              <a:rPr lang="en-US" sz="7200" b="1" dirty="0" smtClean="0">
                <a:solidFill>
                  <a:srgbClr val="6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Introduction </a:t>
            </a:r>
            <a:r>
              <a:rPr lang="en-US" sz="7200" b="1" dirty="0">
                <a:solidFill>
                  <a:srgbClr val="6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to Cascading Style Sheets: </a:t>
            </a:r>
          </a:p>
          <a:p>
            <a:pPr marL="0" indent="0" algn="l">
              <a:lnSpc>
                <a:spcPct val="200000"/>
              </a:lnSpc>
              <a:spcBef>
                <a:spcPts val="0"/>
              </a:spcBef>
            </a:pPr>
            <a:r>
              <a:rPr lang="en-US" sz="6400" dirty="0" smtClean="0">
                <a:latin typeface="Times New Roman" pitchFamily="18" charset="0"/>
                <a:cs typeface="Times New Roman" pitchFamily="18" charset="0"/>
              </a:rPr>
              <a:t>Types </a:t>
            </a: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of CSS (Inline, Internal, External), CSS Selectors, CSS BOX Model</a:t>
            </a:r>
            <a:r>
              <a:rPr lang="en-US" sz="6400" dirty="0" smtClean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6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7200" b="1" dirty="0" smtClean="0">
                <a:solidFill>
                  <a:srgbClr val="600000"/>
                </a:solidFill>
                <a:latin typeface="Times New Roman"/>
                <a:cs typeface="Times New Roman"/>
                <a:sym typeface="Times New Roman"/>
              </a:rPr>
              <a:t>Bootstrap 5:</a:t>
            </a:r>
            <a:endParaRPr lang="en-US" sz="7200" b="1" dirty="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200000"/>
              </a:lnSpc>
              <a:spcBef>
                <a:spcPts val="0"/>
              </a:spcBef>
            </a:pPr>
            <a:r>
              <a:rPr lang="en-IN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6400" dirty="0">
                <a:latin typeface="Times New Roman" pitchFamily="18" charset="0"/>
                <a:cs typeface="Times New Roman" pitchFamily="18" charset="0"/>
              </a:rPr>
              <a:t>Introduction to Bootstrap framework, usage of container and container-fluid classes, grid system, UI components such as carousel, buttons, tables, forms, alerts, images, tabs/pills, </a:t>
            </a:r>
            <a:r>
              <a:rPr lang="en-IN" sz="6400" dirty="0" err="1">
                <a:latin typeface="Times New Roman" pitchFamily="18" charset="0"/>
                <a:cs typeface="Times New Roman" pitchFamily="18" charset="0"/>
              </a:rPr>
              <a:t>navbar</a:t>
            </a:r>
            <a:r>
              <a:rPr lang="en-IN" sz="64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IN" sz="6400" dirty="0" smtClean="0">
                <a:latin typeface="Times New Roman" pitchFamily="18" charset="0"/>
                <a:cs typeface="Times New Roman" pitchFamily="18" charset="0"/>
              </a:rPr>
              <a:t>modals.</a:t>
            </a:r>
            <a:endParaRPr lang="en-IN" sz="6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Google Shape;103;p3"/>
          <p:cNvSpPr txBox="1">
            <a:spLocks noGrp="1"/>
          </p:cNvSpPr>
          <p:nvPr>
            <p:ph type="ctrTitle"/>
          </p:nvPr>
        </p:nvSpPr>
        <p:spPr>
          <a:xfrm>
            <a:off x="1524000" y="760288"/>
            <a:ext cx="9144000" cy="976045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22CAC09-</a:t>
            </a:r>
            <a:r>
              <a:rPr lang="en-US" sz="36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</a:t>
            </a:r>
            <a:r>
              <a:rPr lang="en-US" sz="36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DEVELOPMENT</a:t>
            </a:r>
            <a:endParaRPr sz="3600" b="1" i="0" u="none" strike="noStrike" cap="none" dirty="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Google Shape;105;p3" descr="C:\Users\GANGA\Desktop\download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76553" y="837766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721248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600000"/>
              </a:buClr>
              <a:buSzPts val="3200"/>
            </a:pPr>
            <a:r>
              <a:rPr lang="en-US" sz="32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</a:t>
            </a:r>
            <a:r>
              <a:rPr lang="en-US" sz="3200" b="1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600" b="1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</a:t>
            </a: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DEVELOPMENT</a:t>
            </a:r>
            <a:endParaRPr dirty="0"/>
          </a:p>
        </p:txBody>
      </p:sp>
      <p:pic>
        <p:nvPicPr>
          <p:cNvPr id="113" name="Google Shape;113;p4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4" name="Google Shape;114;p4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818866" y="924674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UNIT-II</a:t>
            </a:r>
            <a:endParaRPr dirty="0"/>
          </a:p>
          <a:p>
            <a:pPr lvl="0" algn="just">
              <a:lnSpc>
                <a:spcPct val="150000"/>
              </a:lnSpc>
            </a:pPr>
            <a:r>
              <a:rPr lang="en-US" sz="28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Script: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Data types and type conversion, handling events. Object-Oriented Programming in JavaScript, use of regular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expressions.</a:t>
            </a:r>
          </a:p>
          <a:p>
            <a:pPr lvl="0" algn="just">
              <a:lnSpc>
                <a:spcPct val="150000"/>
              </a:lnSpc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2800" b="1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Ajax: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 to AJAX, working with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XMLHttpRequest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the Fetch API, JSON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data,sending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receiving JSON data asynchronously, and handling server responses in the browser</a:t>
            </a:r>
            <a:r>
              <a:rPr lang="en-US" sz="2800" dirty="0"/>
              <a:t>. </a:t>
            </a:r>
            <a:endParaRPr sz="2800" b="0" i="0" u="none" strike="noStrike" cap="none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lvl="0" algn="ctr">
              <a:lnSpc>
                <a:spcPct val="90000"/>
              </a:lnSpc>
            </a:pPr>
            <a:r>
              <a:rPr lang="en-US" sz="32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22CAC09-</a:t>
            </a:r>
            <a:r>
              <a:rPr lang="en-US" sz="36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</a:t>
            </a:r>
            <a:r>
              <a:rPr lang="en-US" sz="36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DEVELOPMENT</a:t>
            </a:r>
            <a:endParaRPr dirty="0"/>
          </a:p>
        </p:txBody>
      </p:sp>
      <p:sp>
        <p:nvSpPr>
          <p:cNvPr id="122" name="Google Shape;122;p5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UNIT-III</a:t>
            </a:r>
            <a:endParaRPr dirty="0"/>
          </a:p>
          <a:p>
            <a:pPr lvl="0" algn="just">
              <a:lnSpc>
                <a:spcPct val="200000"/>
              </a:lnSpc>
            </a:pPr>
            <a:r>
              <a:rPr lang="en-US" sz="28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JS: </a:t>
            </a:r>
            <a:r>
              <a:rPr lang="en-US" sz="2800" b="1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I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ntroduction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to React JS, using JSX syntax, comparison of actual DOM </a:t>
            </a:r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React’s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Virtual DOM (VDOM). Creating and managing functional components, understanding state and props, handling events, </a:t>
            </a:r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useState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useEffect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hooks,React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Router, Handling user inputs with controlled forms and form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validation</a:t>
            </a:r>
          </a:p>
          <a:p>
            <a:pPr lvl="0" algn="just">
              <a:lnSpc>
                <a:spcPct val="200000"/>
              </a:lnSpc>
            </a:pPr>
            <a:r>
              <a:rPr lang="en-US" sz="2800" b="1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Angular </a:t>
            </a:r>
            <a:r>
              <a:rPr lang="en-US" sz="28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 to Angular and Angular CLI, creating and managing Angular components and templates. Data binding: property binding and event binding.</a:t>
            </a:r>
            <a:endParaRPr sz="2800" b="0" i="0" u="none" strike="noStrike" cap="none" dirty="0">
              <a:solidFill>
                <a:srgbClr val="071D0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5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4770" y="5882183"/>
            <a:ext cx="1037230" cy="948521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lvl="0" algn="ctr">
              <a:lnSpc>
                <a:spcPct val="90000"/>
              </a:lnSpc>
            </a:pPr>
            <a:r>
              <a:rPr lang="en-US" sz="32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</a:t>
            </a:r>
            <a:r>
              <a:rPr lang="en-US" sz="32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6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</a:t>
            </a:r>
            <a:r>
              <a:rPr lang="en-US" sz="36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DEVELOPMENT</a:t>
            </a:r>
            <a:endParaRPr dirty="0"/>
          </a:p>
        </p:txBody>
      </p:sp>
      <p:sp>
        <p:nvSpPr>
          <p:cNvPr id="131" name="Google Shape;131;p6"/>
          <p:cNvSpPr txBox="1"/>
          <p:nvPr/>
        </p:nvSpPr>
        <p:spPr>
          <a:xfrm>
            <a:off x="163772" y="965915"/>
            <a:ext cx="11122927" cy="5125792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UNIT- IV</a:t>
            </a:r>
            <a:endParaRPr dirty="0"/>
          </a:p>
          <a:p>
            <a:pPr lvl="0" algn="just"/>
            <a:r>
              <a:rPr lang="en-US" sz="28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JS Modules: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 to Node.js and the Node Package Manager 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). Working with Node.js modules, creating a basic web server, and understanding the request-response cycle. Working with the file system to read and write files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asynchronously</a:t>
            </a:r>
            <a:r>
              <a:rPr lang="en-US" sz="2800" dirty="0" smtClean="0"/>
              <a:t>.</a:t>
            </a:r>
          </a:p>
          <a:p>
            <a:pPr lvl="0" algn="just"/>
            <a:endParaRPr sz="2800" b="0" i="0" u="none" strike="noStrike" cap="none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/>
            <a:r>
              <a:rPr lang="en-US" sz="2800" b="1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Event Driven Architecture</a:t>
            </a:r>
            <a:r>
              <a:rPr lang="en-US" sz="2800" b="1" i="0" u="none" strike="noStrike" cap="none" dirty="0" smtClean="0">
                <a:solidFill>
                  <a:srgbClr val="600000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: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EventEmitter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class, creating custom events, and extending the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EventEmitter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class. Handling common I/O operations and implementing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basic</a:t>
            </a:r>
            <a:endParaRPr dirty="0"/>
          </a:p>
        </p:txBody>
      </p:sp>
      <p:sp>
        <p:nvSpPr>
          <p:cNvPr id="132" name="Google Shape;132;p6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6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4" name="Google Shape;134;p6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lvl="0" algn="ctr">
              <a:lnSpc>
                <a:spcPct val="90000"/>
              </a:lnSpc>
            </a:pPr>
            <a:r>
              <a:rPr lang="en-US" sz="32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</a:t>
            </a:r>
            <a:r>
              <a:rPr lang="en-US" sz="32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6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</a:t>
            </a:r>
            <a:r>
              <a:rPr lang="en-US" sz="36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DEVELOPMENT</a:t>
            </a:r>
            <a:endParaRPr dirty="0"/>
          </a:p>
        </p:txBody>
      </p:sp>
      <p:sp>
        <p:nvSpPr>
          <p:cNvPr id="141" name="Google Shape;141;p7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UNIT-V</a:t>
            </a:r>
            <a:r>
              <a:rPr lang="en-US" sz="7400" dirty="0">
                <a:ea typeface="Times New Roman"/>
              </a:rPr>
              <a:t> </a:t>
            </a:r>
            <a:endParaRPr sz="7400" b="1" i="0" u="none" strike="noStrike" cap="none" dirty="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>
              <a:lnSpc>
                <a:spcPct val="200000"/>
              </a:lnSpc>
            </a:pPr>
            <a:r>
              <a:rPr lang="en-US" sz="9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Express.js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: Introduction to the Express.js framework for server-side application development. Routing and handling GET and POST requests, middleware functions, creating and using custom middleware, and serving static files. Using </a:t>
            </a:r>
            <a:r>
              <a:rPr lang="en-US" sz="9600" dirty="0" err="1">
                <a:latin typeface="Times New Roman" pitchFamily="18" charset="0"/>
                <a:cs typeface="Times New Roman" pitchFamily="18" charset="0"/>
              </a:rPr>
              <a:t>templating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 engines like EJS or Pug for dynamic content rendering</a:t>
            </a: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 algn="just">
              <a:lnSpc>
                <a:spcPct val="200000"/>
              </a:lnSpc>
            </a:pPr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9600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: Introduction to </a:t>
            </a:r>
            <a:r>
              <a:rPr lang="en-US" sz="9600" dirty="0" err="1">
                <a:latin typeface="Times New Roman" pitchFamily="18" charset="0"/>
                <a:cs typeface="Times New Roman" pitchFamily="18" charset="0"/>
              </a:rPr>
              <a:t>NoSQL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 databases, comparison of JSON and BSON data formats, working with </a:t>
            </a:r>
            <a:r>
              <a:rPr lang="en-US" sz="9600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 data types. CRUD operations (Create, Read, Update, Delete), schema design</a:t>
            </a:r>
            <a:r>
              <a:rPr lang="en-US" sz="7400" b="0" i="0" u="none" strike="noStrike" cap="none" dirty="0" smtClean="0">
                <a:solidFill>
                  <a:srgbClr val="071D0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.</a:t>
            </a:r>
            <a:endParaRPr sz="7400" b="0" i="0" u="none" strike="noStrike" cap="none" dirty="0">
              <a:solidFill>
                <a:srgbClr val="071D0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pic>
        <p:nvPicPr>
          <p:cNvPr id="142" name="Google Shape;142;p7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3" name="Google Shape;143;p7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lvl="0" algn="ctr">
              <a:lnSpc>
                <a:spcPct val="90000"/>
              </a:lnSpc>
            </a:pPr>
            <a:r>
              <a:rPr lang="en-US" sz="32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</a:t>
            </a:r>
            <a:r>
              <a:rPr lang="en-US" sz="32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6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</a:t>
            </a:r>
            <a:r>
              <a:rPr lang="en-US" sz="36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DEVELOPMENT</a:t>
            </a:r>
            <a:endParaRPr dirty="0"/>
          </a:p>
        </p:txBody>
      </p:sp>
      <p:sp>
        <p:nvSpPr>
          <p:cNvPr id="150" name="Google Shape;150;p8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Books:</a:t>
            </a:r>
            <a:endParaRPr sz="4200" dirty="0"/>
          </a:p>
          <a:p>
            <a:pPr lvl="0" algn="just">
              <a:lnSpc>
                <a:spcPct val="200000"/>
              </a:lnSpc>
            </a:pPr>
            <a:r>
              <a:rPr lang="en-IN" sz="4000" dirty="0" smtClean="0">
                <a:latin typeface="Times New Roman" pitchFamily="18" charset="0"/>
                <a:cs typeface="Times New Roman" pitchFamily="18" charset="0"/>
              </a:rPr>
              <a:t>1.Jon </a:t>
            </a:r>
            <a:r>
              <a:rPr lang="en-IN" sz="4000" dirty="0" err="1">
                <a:latin typeface="Times New Roman" pitchFamily="18" charset="0"/>
                <a:cs typeface="Times New Roman" pitchFamily="18" charset="0"/>
              </a:rPr>
              <a:t>Duckett</a:t>
            </a:r>
            <a:r>
              <a:rPr lang="en-IN" sz="4000" dirty="0">
                <a:latin typeface="Times New Roman" pitchFamily="18" charset="0"/>
                <a:cs typeface="Times New Roman" pitchFamily="18" charset="0"/>
              </a:rPr>
              <a:t>, “HTML and CSS: Design and Build Websites”, Wiley India, 1st Edition, 2011. </a:t>
            </a:r>
            <a:endParaRPr lang="en-IN" sz="4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200000"/>
              </a:lnSpc>
            </a:pPr>
            <a:r>
              <a:rPr lang="en-IN" sz="4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4000" dirty="0">
                <a:latin typeface="Times New Roman" pitchFamily="18" charset="0"/>
                <a:cs typeface="Times New Roman" pitchFamily="18" charset="0"/>
              </a:rPr>
              <a:t>. Eric Freeman, “Head First HTML and CSS”, O'Reilly Media, 2nd Edition, 2012. </a:t>
            </a:r>
            <a:endParaRPr lang="en-IN" sz="4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200000"/>
              </a:lnSpc>
            </a:pPr>
            <a:r>
              <a:rPr lang="en-IN" sz="4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IN" sz="4000" dirty="0">
                <a:latin typeface="Times New Roman" pitchFamily="18" charset="0"/>
                <a:cs typeface="Times New Roman" pitchFamily="18" charset="0"/>
              </a:rPr>
              <a:t>. Ethan Brown, “Web Development with Node and Express”, O'Reilly Media, 1st Edition, 2014. </a:t>
            </a:r>
            <a:endParaRPr lang="en-IN" sz="4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200000"/>
              </a:lnSpc>
            </a:pPr>
            <a:r>
              <a:rPr lang="en-IN" sz="4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IN" sz="4000" dirty="0">
                <a:latin typeface="Times New Roman" pitchFamily="18" charset="0"/>
                <a:cs typeface="Times New Roman" pitchFamily="18" charset="0"/>
              </a:rPr>
              <a:t>. Brad </a:t>
            </a:r>
            <a:r>
              <a:rPr lang="en-IN" sz="4000" dirty="0" err="1">
                <a:latin typeface="Times New Roman" pitchFamily="18" charset="0"/>
                <a:cs typeface="Times New Roman" pitchFamily="18" charset="0"/>
              </a:rPr>
              <a:t>Traversy</a:t>
            </a:r>
            <a:r>
              <a:rPr lang="en-IN" sz="4000" dirty="0">
                <a:latin typeface="Times New Roman" pitchFamily="18" charset="0"/>
                <a:cs typeface="Times New Roman" pitchFamily="18" charset="0"/>
              </a:rPr>
              <a:t>, “Modern JavaScript From The Beginning”, </a:t>
            </a:r>
            <a:r>
              <a:rPr lang="en-IN" sz="4000" dirty="0" err="1">
                <a:latin typeface="Times New Roman" pitchFamily="18" charset="0"/>
                <a:cs typeface="Times New Roman" pitchFamily="18" charset="0"/>
              </a:rPr>
              <a:t>Traversy</a:t>
            </a:r>
            <a:r>
              <a:rPr lang="en-IN" sz="4000" dirty="0">
                <a:latin typeface="Times New Roman" pitchFamily="18" charset="0"/>
                <a:cs typeface="Times New Roman" pitchFamily="18" charset="0"/>
              </a:rPr>
              <a:t> Media, Online Course/Edition, </a:t>
            </a:r>
            <a:r>
              <a:rPr lang="en-IN" sz="4000" dirty="0" smtClean="0">
                <a:latin typeface="Times New Roman" pitchFamily="18" charset="0"/>
                <a:cs typeface="Times New Roman" pitchFamily="18" charset="0"/>
              </a:rPr>
              <a:t>2020</a:t>
            </a:r>
            <a:r>
              <a:rPr lang="en-IN" sz="3100" dirty="0">
                <a:latin typeface="Times New Roman" pitchFamily="18" charset="0"/>
                <a:cs typeface="Times New Roman" pitchFamily="18" charset="0"/>
              </a:rPr>
              <a:t>.</a:t>
            </a:r>
            <a:endParaRPr sz="3100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 smtClean="0">
                <a:solidFill>
                  <a:srgbClr val="600000"/>
                </a:solidFill>
                <a:latin typeface="Times New Roman"/>
                <a:cs typeface="Times New Roman"/>
                <a:sym typeface="Times New Roman"/>
              </a:rPr>
              <a:t>Online Resources:</a:t>
            </a:r>
            <a:endParaRPr sz="4200" dirty="0"/>
          </a:p>
          <a:p>
            <a:pPr marL="342900" lvl="0" indent="-342900" algn="just">
              <a:lnSpc>
                <a:spcPct val="200000"/>
              </a:lnSpc>
              <a:buAutoNum type="arabicPeriod"/>
            </a:pPr>
            <a:r>
              <a:rPr lang="en-IN" sz="4900" dirty="0" smtClean="0">
                <a:latin typeface="Times New Roman" pitchFamily="18" charset="0"/>
                <a:cs typeface="Times New Roman" pitchFamily="18" charset="0"/>
              </a:rPr>
              <a:t>MDN </a:t>
            </a:r>
            <a:r>
              <a:rPr lang="en-IN" sz="4900" dirty="0">
                <a:latin typeface="Times New Roman" pitchFamily="18" charset="0"/>
                <a:cs typeface="Times New Roman" pitchFamily="18" charset="0"/>
              </a:rPr>
              <a:t>Web Docs: https://developer.mozilla.org/ </a:t>
            </a:r>
            <a:endParaRPr lang="en-IN" sz="49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lnSpc>
                <a:spcPct val="200000"/>
              </a:lnSpc>
              <a:buAutoNum type="arabicPeriod"/>
            </a:pPr>
            <a:r>
              <a:rPr lang="en-IN" sz="4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4900" dirty="0">
                <a:latin typeface="Times New Roman" pitchFamily="18" charset="0"/>
                <a:cs typeface="Times New Roman" pitchFamily="18" charset="0"/>
              </a:rPr>
              <a:t>W3Schools: https://www.w3schools.com/ </a:t>
            </a:r>
            <a:endParaRPr lang="en-IN" sz="49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lnSpc>
                <a:spcPct val="200000"/>
              </a:lnSpc>
              <a:buAutoNum type="arabicPeriod"/>
            </a:pPr>
            <a:r>
              <a:rPr lang="en-IN" sz="4900" dirty="0" smtClean="0">
                <a:latin typeface="Times New Roman" pitchFamily="18" charset="0"/>
                <a:cs typeface="Times New Roman" pitchFamily="18" charset="0"/>
              </a:rPr>
              <a:t>React </a:t>
            </a:r>
            <a:r>
              <a:rPr lang="en-IN" sz="4900" dirty="0">
                <a:latin typeface="Times New Roman" pitchFamily="18" charset="0"/>
                <a:cs typeface="Times New Roman" pitchFamily="18" charset="0"/>
              </a:rPr>
              <a:t>Official Docs: https://reactjs.org/ </a:t>
            </a:r>
            <a:endParaRPr lang="en-IN" sz="49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lnSpc>
                <a:spcPct val="200000"/>
              </a:lnSpc>
              <a:buAutoNum type="arabicPeriod"/>
            </a:pPr>
            <a:r>
              <a:rPr lang="en-IN" sz="4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4900" dirty="0">
                <a:latin typeface="Times New Roman" pitchFamily="18" charset="0"/>
                <a:cs typeface="Times New Roman" pitchFamily="18" charset="0"/>
              </a:rPr>
              <a:t>Angular Official Docs: https://angular.io/ </a:t>
            </a:r>
            <a:endParaRPr lang="en-IN" sz="49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lnSpc>
                <a:spcPct val="200000"/>
              </a:lnSpc>
              <a:buAutoNum type="arabicPeriod"/>
            </a:pPr>
            <a:r>
              <a:rPr lang="en-IN" sz="4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4900" dirty="0">
                <a:latin typeface="Times New Roman" pitchFamily="18" charset="0"/>
                <a:cs typeface="Times New Roman" pitchFamily="18" charset="0"/>
              </a:rPr>
              <a:t>Node.js Official Site: https://nodejs.org/ </a:t>
            </a:r>
            <a:endParaRPr lang="en-IN" sz="49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lnSpc>
                <a:spcPct val="200000"/>
              </a:lnSpc>
              <a:buAutoNum type="arabicPeriod"/>
            </a:pPr>
            <a:r>
              <a:rPr lang="en-IN" sz="4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4900" dirty="0">
                <a:latin typeface="Times New Roman" pitchFamily="18" charset="0"/>
                <a:cs typeface="Times New Roman" pitchFamily="18" charset="0"/>
              </a:rPr>
              <a:t>Express.js Docs: https://expressjs.com/ </a:t>
            </a:r>
            <a:endParaRPr lang="en-IN" sz="49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lnSpc>
                <a:spcPct val="200000"/>
              </a:lnSpc>
              <a:buAutoNum type="arabicPeriod"/>
            </a:pPr>
            <a:r>
              <a:rPr lang="en-IN" sz="4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4900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IN" sz="4900" dirty="0">
                <a:latin typeface="Times New Roman" pitchFamily="18" charset="0"/>
                <a:cs typeface="Times New Roman" pitchFamily="18" charset="0"/>
              </a:rPr>
              <a:t> Manual: https://docs.mongodb.co</a:t>
            </a:r>
            <a:endParaRPr sz="4900" b="0" i="0" u="none" strike="noStrike" cap="none" dirty="0">
              <a:solidFill>
                <a:srgbClr val="071D0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pic>
        <p:nvPicPr>
          <p:cNvPr id="151" name="Google Shape;151;p8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2" name="Google Shape;152;p8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600000"/>
              </a:buClr>
              <a:buSzPts val="3200"/>
            </a:pPr>
            <a:r>
              <a:rPr lang="en-US" sz="32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22CAC09-</a:t>
            </a:r>
            <a:r>
              <a:rPr lang="en-US" sz="3600" b="1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</a:t>
            </a: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DEVELOPMENT</a:t>
            </a:r>
            <a:endParaRPr dirty="0"/>
          </a:p>
        </p:txBody>
      </p:sp>
      <p:pic>
        <p:nvPicPr>
          <p:cNvPr id="159" name="Google Shape;159;p9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0" name="Google Shape;160;p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818866" y="934948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Stack Development:</a:t>
            </a:r>
            <a:r>
              <a:rPr lang="en-US" sz="2800" b="0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800" b="0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refers to the development of both </a:t>
            </a:r>
            <a:r>
              <a:rPr lang="en-US" sz="2800" b="1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 end</a:t>
            </a: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(client side) and </a:t>
            </a:r>
            <a:r>
              <a:rPr lang="en-US" sz="2800" b="1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end</a:t>
            </a: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(server side) portions of web application.</a:t>
            </a:r>
            <a:endParaRPr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Stack Web Developers:</a:t>
            </a:r>
            <a:endParaRPr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full stack developer is one who is comfortable working with both backend and frontend technologies.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lvl="0" algn="ctr">
              <a:lnSpc>
                <a:spcPct val="90000"/>
              </a:lnSpc>
            </a:pPr>
            <a:r>
              <a:rPr lang="en-US" sz="32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</a:t>
            </a:r>
            <a:r>
              <a:rPr lang="en-US" sz="32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6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</a:t>
            </a:r>
            <a:r>
              <a:rPr lang="en-US" sz="36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DEVELOPMENT</a:t>
            </a:r>
            <a:endParaRPr sz="3600" b="1" i="0" u="none" strike="noStrike" cap="none" dirty="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 TECH STACKS</a:t>
            </a:r>
            <a:endParaRPr/>
          </a:p>
          <a:p>
            <a:pPr marL="228600" marR="0" lvl="0" indent="-228600" algn="l" rtl="0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MERN	-MongoDB	- ExpressJS	 - ReactJS      -NodeJS </a:t>
            </a:r>
            <a:endParaRPr/>
          </a:p>
          <a:p>
            <a:pPr marL="228600" marR="0" lvl="0" indent="-228600" algn="l" rtl="0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	-MongoDB	- ExpressJS	 - AngularJS  -NodeJS</a:t>
            </a:r>
            <a:endParaRPr/>
          </a:p>
          <a:p>
            <a:pPr marL="228600" marR="0" lvl="0" indent="-228600" algn="l" rtl="0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MEVN	-MongoDB	- ExpressJS	 - VueJS 	   -NodeJS</a:t>
            </a:r>
            <a:endParaRPr/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0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4770" y="5882183"/>
            <a:ext cx="1037230" cy="948521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2" name="Google Shape;17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7420" y="2443985"/>
            <a:ext cx="7368771" cy="764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31307" y="3696241"/>
            <a:ext cx="7729380" cy="56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34195" y="5513697"/>
            <a:ext cx="7362825" cy="579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STACK DEVELOPER</a:t>
            </a:r>
            <a:endParaRPr sz="3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Stage 1: 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Stage 2: 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</a:t>
            </a:r>
            <a:endParaRPr sz="28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Stage 3: 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Stage 4: 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ReactJs</a:t>
            </a:r>
            <a:endParaRPr sz="28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Stage 5: 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NodeJs</a:t>
            </a:r>
            <a:endParaRPr sz="28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Stage 6: 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ExpressJS</a:t>
            </a:r>
            <a:endParaRPr sz="28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Stage 7: 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</a:t>
            </a:r>
            <a:endParaRPr sz="28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1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3" name="Google Shape;183;p11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lvl="0" algn="ctr">
              <a:lnSpc>
                <a:spcPct val="90000"/>
              </a:lnSpc>
            </a:pPr>
            <a:r>
              <a:rPr lang="en-US" sz="32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</a:t>
            </a:r>
            <a:r>
              <a:rPr lang="en-US" sz="32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6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</a:t>
            </a:r>
            <a:r>
              <a:rPr lang="en-US" sz="36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DEVELOPMENT</a:t>
            </a:r>
            <a:endParaRPr sz="3600" b="1" i="0" u="none" strike="noStrike" cap="none" dirty="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sng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Tier Architecture of MERN Stack</a:t>
            </a:r>
            <a:endParaRPr sz="2800" b="1" i="0" u="sng" strike="noStrike" cap="non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12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2" name="Google Shape;192;p12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2219" y="2017824"/>
            <a:ext cx="10453561" cy="3532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lvl="0" algn="ctr">
              <a:lnSpc>
                <a:spcPct val="90000"/>
              </a:lnSpc>
            </a:pPr>
            <a:r>
              <a:rPr lang="en-US" sz="32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</a:t>
            </a:r>
            <a:r>
              <a:rPr lang="en-US" sz="32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6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</a:t>
            </a:r>
            <a:r>
              <a:rPr lang="en-US" sz="36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DEVELOPMENT</a:t>
            </a:r>
            <a:endParaRPr sz="3600" b="1" i="0" u="none" strike="noStrike" cap="none" dirty="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391397" y="1462046"/>
            <a:ext cx="11764500" cy="5225100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sng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IDE’S Required for FSD-</a:t>
            </a:r>
            <a:r>
              <a:rPr lang="en-US" sz="2800" b="1" i="0" u="sng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</a:t>
            </a:r>
            <a:r>
              <a:rPr lang="en-US" sz="2800" b="1" i="0" u="sng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sng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</a:t>
            </a:r>
            <a:endParaRPr sz="2800" b="1" i="0" u="sng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" name="Google Shape;201;p13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2" name="Google Shape;202;p13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400" y="1059013"/>
            <a:ext cx="11409201" cy="5265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lvl="0" algn="ctr">
              <a:lnSpc>
                <a:spcPct val="90000"/>
              </a:lnSpc>
            </a:pPr>
            <a:r>
              <a:rPr lang="en-US" sz="32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</a:t>
            </a:r>
            <a:r>
              <a:rPr lang="en-US" sz="32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6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</a:t>
            </a:r>
            <a:r>
              <a:rPr lang="en-US" sz="36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DEVELOPMENT</a:t>
            </a:r>
            <a:endParaRPr sz="3600" b="1" i="0" u="none" strike="noStrike" cap="none" dirty="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4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sng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IDE’S Required for FSD-</a:t>
            </a:r>
            <a:r>
              <a:rPr lang="en-US" sz="2800" b="1" i="0" u="sng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 Compass</a:t>
            </a:r>
            <a:endParaRPr sz="2800" b="1" i="0" u="sng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1" name="Google Shape;211;p14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2" name="Google Shape;212;p14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555" y="1563836"/>
            <a:ext cx="11502735" cy="4546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lvl="0" algn="ctr">
              <a:lnSpc>
                <a:spcPct val="90000"/>
              </a:lnSpc>
            </a:pPr>
            <a:r>
              <a:rPr lang="en-US" sz="32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22CAC09</a:t>
            </a:r>
            <a:r>
              <a:rPr lang="en-US" sz="32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600" b="1" i="0" u="none" strike="noStrike" cap="none" dirty="0" smtClean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</a:t>
            </a:r>
            <a:r>
              <a:rPr lang="en-US" sz="36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DEVELOPMENT</a:t>
            </a:r>
            <a:endParaRPr sz="3600" b="1" i="0" u="none" strike="noStrike" cap="none" dirty="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sng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IDE’S Required for FSD-</a:t>
            </a:r>
            <a:r>
              <a:rPr lang="en-US" sz="2800" b="1" i="0" u="sng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Postman </a:t>
            </a:r>
            <a:endParaRPr sz="2800" b="1" i="0" u="sng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15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2" name="Google Shape;222;p15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4073" y="1529702"/>
            <a:ext cx="11419609" cy="4501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CHAKRAS OF MERN STACK DEVELOPER</a:t>
            </a:r>
            <a:endParaRPr sz="3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1" name="Google Shape;231;p16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2" name="Google Shape;232;p16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5173" y="991276"/>
            <a:ext cx="5512158" cy="5100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Introduction: Web Fundamentals</a:t>
            </a:r>
            <a:endParaRPr sz="36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0" name="Google Shape;240;p17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1" name="Google Shape;241;p17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U.S. Department of Defense(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DoD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interested in developing a new large-scale computer network in the 1960’s, which led to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ARPAnet</a:t>
            </a:r>
            <a:r>
              <a:rPr lang="en-US" sz="2800" b="1" i="1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(Advanced Research Projects Agency net).</a:t>
            </a:r>
            <a:endParaRPr/>
          </a:p>
          <a:p>
            <a:pPr marL="457200" marR="0" lvl="0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Later in 1970’s and 1980’s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BITNET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(Because It’s Time Network) and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CSNET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(Computer Science Network) were developed for servicing the institutions of the Universities. </a:t>
            </a:r>
            <a:endParaRPr/>
          </a:p>
          <a:p>
            <a:pPr marL="457200" marR="0" lvl="0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1986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NSFnet 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(National Science Foundation) was created and replaced ARPAnet for non-military uses.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Introduction: Web Fundamentals</a:t>
            </a:r>
            <a:endParaRPr sz="3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just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1992, a wide variety of organizations had established nodes on this network and had connected more than 1 million computers around the world.</a:t>
            </a:r>
            <a:endParaRPr/>
          </a:p>
          <a:p>
            <a:pPr marL="457200" marR="0" lvl="0" indent="-457200" algn="just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1995 a small part of NSFnet returned to being a research network and the rest became as 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</a:t>
            </a:r>
            <a:r>
              <a:rPr lang="en-US" sz="2800" b="0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18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4770" y="5882183"/>
            <a:ext cx="1037230" cy="948521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The Internet  Is?</a:t>
            </a:r>
            <a:endParaRPr sz="3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163772" y="1028124"/>
            <a:ext cx="11122927" cy="5073974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marR="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is a huge collection of computers 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in a communication network.</a:t>
            </a:r>
            <a:endParaRPr/>
          </a:p>
          <a:p>
            <a:pPr marL="457200" marR="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Transmission Control Protocol/Internet Protocol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(TCP/IP), 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became the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for computer network 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connections in 1982. </a:t>
            </a:r>
            <a:endParaRPr sz="2800" b="0" i="0" u="none" strike="noStrike" cap="non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used directly to allow a program on one computer to communicate with a program on another computer via the Internet.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19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1" name="Google Shape;261;p19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The Internet  Is?</a:t>
            </a:r>
            <a:endParaRPr sz="40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213747" y="988359"/>
            <a:ext cx="11764500" cy="5225100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3053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Rather than connecting every computer on the Internet directly to every other computer on the Internet, normally the individual computers in an organization are connected to each other in a local network. (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marR="0" lvl="0" indent="-43053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node on this local network is physically connected to the Internet. So, the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is actually a network of networks 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rather than a network of computers.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9" name="Google Shape;269;p20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70" name="Google Shape;270;p20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Internet-Based Services</a:t>
            </a:r>
            <a:endParaRPr sz="3600" b="1" i="0" u="none" strike="noStrike" cap="non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A fast, easy, and inexpensive way to communicate with other Internet users around the world.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Telnet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Allows a user to log into a remote computer as though it were a local system.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FTP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Allows a user to transfer virtually every kind of file that can be stored on a computer from one Internet-connected computer to another.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UseNet news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A distributed bulletin board that offers a combination news and discussion service on thousands of topics.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Wide Web (WWW)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A hypertext interface to Internet information resources.</a:t>
            </a:r>
            <a:endParaRPr/>
          </a:p>
          <a:p>
            <a:pPr marL="457200" marR="0" lvl="0" indent="-292735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8" name="Google Shape;278;p21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79" name="Google Shape;279;p21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Protocol Address</a:t>
            </a:r>
            <a:endParaRPr sz="36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6" name="Google Shape;286;p22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7" name="Google Shape;287;p22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817404" y="865425"/>
            <a:ext cx="11136600" cy="5795400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marR="0" lvl="0" indent="-443865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nodes are identified by numeric addresses.</a:t>
            </a:r>
            <a:endParaRPr/>
          </a:p>
          <a:p>
            <a:pPr marL="457200" marR="0" lvl="0" indent="-443865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Protocol (IP) address 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 machine connected to the Internet is a unique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32-bit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number. </a:t>
            </a:r>
            <a:endParaRPr/>
          </a:p>
          <a:p>
            <a:pPr marL="457200" marR="0" lvl="0" indent="-443865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 addresses usually are written (and thought of) as four 8-bit numbers, separated by periods. </a:t>
            </a:r>
            <a:endParaRPr/>
          </a:p>
          <a:p>
            <a:pPr marL="457200" marR="0" lvl="0" indent="-443865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four parts are separately used by Internet-routing computers to decide where a message must go next to get to its destination.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3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Protocol Address</a:t>
            </a:r>
            <a:endParaRPr sz="3600" b="1" i="0" u="none" strike="noStrike" cap="non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3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23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4770" y="5882183"/>
            <a:ext cx="1037230" cy="948521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99" name="Google Shape;299;p23"/>
          <p:cNvGraphicFramePr/>
          <p:nvPr/>
        </p:nvGraphicFramePr>
        <p:xfrm>
          <a:off x="380999" y="1236372"/>
          <a:ext cx="10347125" cy="5306675"/>
        </p:xfrm>
        <a:graphic>
          <a:graphicData uri="http://schemas.openxmlformats.org/drawingml/2006/table">
            <a:tbl>
              <a:tblPr firstRow="1" bandRow="1">
                <a:noFill/>
                <a:tableStyleId>{9110F1E6-D530-4BA8-99FE-80ACF66D1318}</a:tableStyleId>
              </a:tblPr>
              <a:tblGrid>
                <a:gridCol w="1600075"/>
                <a:gridCol w="3009100"/>
                <a:gridCol w="5737950"/>
              </a:tblGrid>
              <a:tr h="551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Class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Address Range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Supports</a:t>
                      </a:r>
                      <a:endParaRPr/>
                    </a:p>
                  </a:txBody>
                  <a:tcPr marL="91450" marR="91450" marT="45725" marB="45725" anchor="ctr"/>
                </a:tc>
              </a:tr>
              <a:tr h="951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Class A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0</a:t>
                      </a:r>
                      <a:r>
                        <a:rPr lang="en-US" sz="1800" u="none" strike="noStrike" cap="none"/>
                        <a:t>.0.0.0 to </a:t>
                      </a:r>
                      <a:r>
                        <a:rPr lang="en-US" sz="1800" b="1" u="none" strike="noStrike" cap="none"/>
                        <a:t>127</a:t>
                      </a:r>
                      <a:r>
                        <a:rPr lang="en-US" sz="1800" u="none" strike="noStrike" cap="none"/>
                        <a:t>.255.255.254</a:t>
                      </a:r>
                      <a:endParaRPr sz="18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Supports 16 million hosts on each of 127 networks.</a:t>
                      </a:r>
                      <a:endParaRPr/>
                    </a:p>
                  </a:txBody>
                  <a:tcPr marL="91450" marR="91450" marT="45725" marB="45725" anchor="ctr"/>
                </a:tc>
              </a:tr>
              <a:tr h="951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Class B</a:t>
                      </a: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128</a:t>
                      </a:r>
                      <a:r>
                        <a:rPr lang="en-US" sz="1800"/>
                        <a:t>.1.0.1 to </a:t>
                      </a:r>
                      <a:r>
                        <a:rPr lang="en-US" sz="1800" b="1"/>
                        <a:t>191</a:t>
                      </a:r>
                      <a:r>
                        <a:rPr lang="en-US" sz="1800"/>
                        <a:t>.255.255.254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Supports 65,000 hosts on each of 16,000 networks.</a:t>
                      </a:r>
                      <a:endParaRPr/>
                    </a:p>
                  </a:txBody>
                  <a:tcPr marL="91450" marR="91450" marT="45725" marB="45725" anchor="ctr"/>
                </a:tc>
              </a:tr>
              <a:tr h="951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Class C</a:t>
                      </a: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192</a:t>
                      </a:r>
                      <a:r>
                        <a:rPr lang="en-US" sz="1800"/>
                        <a:t>.0.1.1 to </a:t>
                      </a:r>
                      <a:r>
                        <a:rPr lang="en-US" sz="1800" b="1"/>
                        <a:t>223</a:t>
                      </a:r>
                      <a:r>
                        <a:rPr lang="en-US" sz="1800"/>
                        <a:t>.255.254.254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Supports 254 hosts on each of 2 million networks.</a:t>
                      </a:r>
                      <a:endParaRPr/>
                    </a:p>
                  </a:txBody>
                  <a:tcPr marL="91450" marR="91450" marT="45725" marB="45725" anchor="ctr"/>
                </a:tc>
              </a:tr>
              <a:tr h="951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Class D</a:t>
                      </a: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224</a:t>
                      </a:r>
                      <a:r>
                        <a:rPr lang="en-US" sz="1800"/>
                        <a:t>.0.0.0 to </a:t>
                      </a:r>
                      <a:r>
                        <a:rPr lang="en-US" sz="1800" b="1"/>
                        <a:t>239</a:t>
                      </a:r>
                      <a:r>
                        <a:rPr lang="en-US" sz="1800"/>
                        <a:t>.255.255.255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Reserved for Multicast Groups.</a:t>
                      </a:r>
                      <a:endParaRPr/>
                    </a:p>
                  </a:txBody>
                  <a:tcPr marL="91450" marR="91450" marT="45725" marB="45725" anchor="ctr"/>
                </a:tc>
              </a:tr>
              <a:tr h="951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Class E</a:t>
                      </a:r>
                      <a:endParaRPr sz="18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240</a:t>
                      </a:r>
                      <a:r>
                        <a:rPr lang="en-US" sz="1800"/>
                        <a:t>.0.0.0 to </a:t>
                      </a:r>
                      <a:r>
                        <a:rPr lang="en-US" sz="1800" b="1"/>
                        <a:t>254</a:t>
                      </a:r>
                      <a:r>
                        <a:rPr lang="en-US" sz="1800"/>
                        <a:t>.255.255.254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Reserved for future use, or Research and Development Purposes.</a:t>
                      </a:r>
                      <a:endParaRPr/>
                    </a:p>
                  </a:txBody>
                  <a:tcPr marL="91450" marR="91450" marT="45725" marB="457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ct val="1000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Submarine Cable World Map</a:t>
            </a:r>
            <a:endParaRPr sz="3600" b="1" i="0" u="none" strike="noStrike" cap="non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24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08" name="Google Shape;308;p24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0456" y="1084885"/>
            <a:ext cx="10921285" cy="49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Names</a:t>
            </a:r>
            <a:endParaRPr sz="3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people have difficulty dealing with and remembering numbers, machines on the Internet also have textual names.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https://www.cbit.ac.in/department-of-information-technology/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</a:t>
            </a:r>
            <a:r>
              <a:rPr lang="en-US" sz="1200" b="1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         Subdomains  Domain Name    Top Level Domain			         File Path</a:t>
            </a:r>
            <a:endParaRPr sz="1200" b="1" i="0" u="none" strike="noStrike" cap="non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host name along with the domain names are together called a </a:t>
            </a:r>
            <a:r>
              <a:rPr lang="en-US" sz="2800" b="0" i="1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qualified domain name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domain names are converted into IP addresses by </a:t>
            </a:r>
            <a:r>
              <a:rPr lang="en-US" sz="2800" b="0" i="1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Name System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(DNS)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7" name="Google Shape;317;p25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8" name="Google Shape;318;p25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25"/>
          <p:cNvCxnSpPr/>
          <p:nvPr/>
        </p:nvCxnSpPr>
        <p:spPr>
          <a:xfrm>
            <a:off x="2712027" y="2774372"/>
            <a:ext cx="0" cy="311728"/>
          </a:xfrm>
          <a:prstGeom prst="straightConnector1">
            <a:avLst/>
          </a:prstGeom>
          <a:noFill/>
          <a:ln w="9525" cap="flat" cmpd="sng">
            <a:solidFill>
              <a:srgbClr val="6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1" name="Google Shape;321;p25"/>
          <p:cNvCxnSpPr/>
          <p:nvPr/>
        </p:nvCxnSpPr>
        <p:spPr>
          <a:xfrm>
            <a:off x="3664527" y="2774372"/>
            <a:ext cx="0" cy="311728"/>
          </a:xfrm>
          <a:prstGeom prst="straightConnector1">
            <a:avLst/>
          </a:prstGeom>
          <a:noFill/>
          <a:ln w="9525" cap="flat" cmpd="sng">
            <a:solidFill>
              <a:srgbClr val="6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2" name="Google Shape;322;p25"/>
          <p:cNvCxnSpPr/>
          <p:nvPr/>
        </p:nvCxnSpPr>
        <p:spPr>
          <a:xfrm>
            <a:off x="4419599" y="2774372"/>
            <a:ext cx="0" cy="311728"/>
          </a:xfrm>
          <a:prstGeom prst="straightConnector1">
            <a:avLst/>
          </a:prstGeom>
          <a:noFill/>
          <a:ln w="9525" cap="flat" cmpd="sng">
            <a:solidFill>
              <a:srgbClr val="6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3" name="Google Shape;323;p25"/>
          <p:cNvCxnSpPr/>
          <p:nvPr/>
        </p:nvCxnSpPr>
        <p:spPr>
          <a:xfrm>
            <a:off x="5237017" y="2774372"/>
            <a:ext cx="0" cy="311728"/>
          </a:xfrm>
          <a:prstGeom prst="straightConnector1">
            <a:avLst/>
          </a:prstGeom>
          <a:noFill/>
          <a:ln w="9525" cap="flat" cmpd="sng">
            <a:solidFill>
              <a:srgbClr val="6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4" name="Google Shape;324;p25"/>
          <p:cNvSpPr/>
          <p:nvPr/>
        </p:nvSpPr>
        <p:spPr>
          <a:xfrm rot="5400000">
            <a:off x="7908260" y="331724"/>
            <a:ext cx="374069" cy="5176242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6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Name System (DNS)</a:t>
            </a:r>
            <a:endParaRPr sz="3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26"/>
          <p:cNvSpPr txBox="1"/>
          <p:nvPr/>
        </p:nvSpPr>
        <p:spPr>
          <a:xfrm>
            <a:off x="90011" y="695694"/>
            <a:ext cx="12012000" cy="5466600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marR="0" lvl="0" indent="-514350" algn="just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 addresses are the addresses used internally by the Internet, But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FQDN</a:t>
            </a:r>
            <a:r>
              <a:rPr lang="en-US" sz="2800" b="1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is given by a browser user, must be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to an IP address 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the message can be transmitted over the Internet to the destination. </a:t>
            </a:r>
            <a:endParaRPr/>
          </a:p>
          <a:p>
            <a:pPr marL="514350" marR="0" lvl="0" indent="-514350" algn="just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conversions are done by software systems called name servers, which implement the 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Name System</a:t>
            </a:r>
            <a:r>
              <a:rPr lang="en-US" sz="2800" b="0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DNS</a:t>
            </a: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  <a:endParaRPr/>
          </a:p>
        </p:txBody>
      </p:sp>
      <p:pic>
        <p:nvPicPr>
          <p:cNvPr id="331" name="Google Shape;331;p26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2" name="Google Shape;332;p26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457200" marR="0" lvl="0" indent="-44386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servers serve a collection of machines on the Internet and are operated by organizations that are responsible for the part of the Internet to which those machines are connected. </a:t>
            </a:r>
            <a:endParaRPr/>
          </a:p>
          <a:p>
            <a:pPr marL="457200" marR="0" lvl="0" indent="-44386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document requests from browsers are routed to the nearest name server. </a:t>
            </a:r>
            <a:endParaRPr/>
          </a:p>
          <a:p>
            <a:pPr marL="457200" marR="0" lvl="0" indent="-44386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name server can convert the fully qualified domain name to an IP address, it does so.</a:t>
            </a:r>
            <a:endParaRPr/>
          </a:p>
          <a:p>
            <a:pPr marL="457200" marR="0" lvl="0" indent="-44386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it cannot, the name server sends the fully qualified domain name to another name server for conversion. </a:t>
            </a:r>
            <a:endParaRPr sz="2800" b="0" i="0" u="none" strike="noStrike" cap="non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4386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Like IP addresses, fully qualified domain names must be unique. 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27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Name System (DNS)</a:t>
            </a:r>
            <a:endParaRPr sz="36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0" name="Google Shape;340;p27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1" name="Google Shape;341;p27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7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8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Name Conversion</a:t>
            </a:r>
            <a:endParaRPr sz="32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28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28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4770" y="5882183"/>
            <a:ext cx="1037230" cy="948521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2" name="Google Shape;352;p28" descr="fig01_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9413" y="1298864"/>
            <a:ext cx="9990858" cy="5037542"/>
          </a:xfrm>
          <a:prstGeom prst="rect">
            <a:avLst/>
          </a:prstGeom>
          <a:noFill/>
          <a:ln w="50800" cap="flat" cmpd="sng">
            <a:solidFill>
              <a:srgbClr val="071D0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3" name="Google Shape;353;p28"/>
          <p:cNvSpPr/>
          <p:nvPr/>
        </p:nvSpPr>
        <p:spPr>
          <a:xfrm>
            <a:off x="8032173" y="1600200"/>
            <a:ext cx="2171700" cy="862445"/>
          </a:xfrm>
          <a:prstGeom prst="flowChartPunchedTape">
            <a:avLst/>
          </a:prstGeom>
          <a:solidFill>
            <a:schemeClr val="lt1"/>
          </a:solidFill>
          <a:ln w="508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600000"/>
                </a:solidFill>
                <a:latin typeface="Calibri"/>
                <a:ea typeface="Calibri"/>
                <a:cs typeface="Calibri"/>
                <a:sym typeface="Calibri"/>
              </a:rPr>
              <a:t>3.111.165.12</a:t>
            </a:r>
            <a:endParaRPr sz="1800" b="1" i="0" u="none" strike="noStrike" cap="none">
              <a:solidFill>
                <a:srgbClr val="6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Wide Web</a:t>
            </a:r>
            <a:endParaRPr sz="40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1989, a small group of people led by Tim Berners-Lee at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CERN</a:t>
            </a: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(Conseil Européen pour la Recherche Nucléaire, or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European Organization for Particle Physics</a:t>
            </a: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),proposed a new protocol for the Internet, as well as a system of document access to use it.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intent of this new system, which the group named the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Wide Web</a:t>
            </a: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was to allow scientists around the world to use the Internet to exchange documents describing their work.</a:t>
            </a:r>
            <a:endParaRPr/>
          </a:p>
          <a:p>
            <a:pPr marL="457200" marR="0" lvl="0" indent="-2794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29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2" name="Google Shape;362;p29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0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or Internet?</a:t>
            </a:r>
            <a:endParaRPr sz="3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30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457200" marR="0" lvl="0" indent="-457200" algn="just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51D17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is a collection of computers </a:t>
            </a:r>
            <a:r>
              <a:rPr lang="en-US" sz="2800" b="0" i="0" u="none" strike="noStrike" cap="non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other devices connected by equipment that allows them to communicate with each other. </a:t>
            </a:r>
            <a:endParaRPr sz="2800" b="0" i="0" u="none" strike="noStrike" cap="none">
              <a:solidFill>
                <a:srgbClr val="051D1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Clr>
                <a:srgbClr val="051D17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Wide Web -- also known as the web, WWW or W3 </a:t>
            </a:r>
            <a:r>
              <a:rPr lang="en-US" sz="2800" b="0" i="0" u="none" strike="noStrike" cap="non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refers to all the public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websites or pages that users can access </a:t>
            </a:r>
            <a:r>
              <a:rPr lang="en-US" sz="2800" b="0" i="0" u="none" strike="noStrike" cap="non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their local computers and other devices through the 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</a:t>
            </a:r>
            <a:r>
              <a:rPr lang="en-US" sz="2800" b="0" i="0" u="none" strike="noStrike" cap="non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0" name="Google Shape;370;p30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71" name="Google Shape;371;p30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0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Browser and Web Server</a:t>
            </a:r>
            <a:endParaRPr sz="3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31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marR="0" lvl="0" indent="-443865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51D17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is a client on the Web </a:t>
            </a:r>
            <a:r>
              <a:rPr lang="en-US" sz="2800" b="0" i="0" u="none" strike="noStrike" cap="non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it initiates the communication with a server, which waits for a request from the client.</a:t>
            </a:r>
            <a:endParaRPr/>
          </a:p>
          <a:p>
            <a:pPr marL="457200" marR="0" lvl="0" indent="-443865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Noto Sans Symbols"/>
              <a:buChar char="⮚"/>
            </a:pP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servers are programs </a:t>
            </a:r>
            <a:r>
              <a:rPr lang="en-US" sz="2800" b="0" i="0" u="none" strike="noStrike" cap="non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provide documents to requesting browsers. </a:t>
            </a:r>
            <a:endParaRPr/>
          </a:p>
          <a:p>
            <a:pPr marL="457200" marR="0" lvl="0" indent="-443865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Noto Sans Symbols"/>
              <a:buChar char="⮚"/>
            </a:pP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Servers are slave programs:</a:t>
            </a:r>
            <a:r>
              <a:rPr lang="en-US" sz="2800" b="0" i="0" u="none" strike="noStrike" cap="non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They act only when requests are made to them by browsers running on other computers on the Internet.</a:t>
            </a:r>
            <a:endParaRPr/>
          </a:p>
          <a:p>
            <a:pPr marL="457200" marR="0" lvl="0" indent="-443865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51D17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most 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commonly used Web servers are Apache</a:t>
            </a:r>
            <a:r>
              <a:rPr lang="en-US" sz="2800" b="0" i="0" u="none" strike="noStrike" cap="non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has been implemen</a:t>
            </a:r>
            <a:r>
              <a:rPr lang="en-US" sz="2800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800" b="0" i="0" u="none" strike="noStrike" cap="none">
                <a:solidFill>
                  <a:srgbClr val="051D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 for a variety of computer platforms, and Microsoft’s Internet Information Server(IIS), which runs under Windows operating systems.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9" name="Google Shape;379;p31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80" name="Google Shape;380;p31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1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Server Operation</a:t>
            </a:r>
            <a:endParaRPr sz="32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32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ts val="2600"/>
              <a:buFont typeface="Noto Sans Symbols"/>
              <a:buChar char="⮚"/>
            </a:pPr>
            <a:r>
              <a:rPr lang="en-US" sz="26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browsers initiate network communications with servers by sending them URLs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ts val="2600"/>
              <a:buFont typeface="Noto Sans Symbols"/>
              <a:buChar char="⮚"/>
            </a:pPr>
            <a:r>
              <a:rPr lang="en-US" sz="26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URL can specify one of two different things: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1. The address of a data file stored on the server that is to be sent to the client.												</a:t>
            </a:r>
            <a:r>
              <a:rPr lang="en-US" sz="26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 sz="2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2. A program stored on the server that the client wants executed, with the output of the program returned to the client.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ts val="2600"/>
              <a:buFont typeface="Noto Sans Symbols"/>
              <a:buChar char="⮚"/>
            </a:pPr>
            <a:r>
              <a:rPr lang="en-US" sz="26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the communications between a Web client and a Web server use the standard Web protocol, Hypertext Transfer Protocol (HTTP).</a:t>
            </a:r>
            <a:endParaRPr sz="2600" b="0" i="0" u="none" strike="noStrike" cap="none">
              <a:solidFill>
                <a:srgbClr val="14510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8" name="Google Shape;388;p32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89" name="Google Shape;389;p32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3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Server Operation</a:t>
            </a:r>
            <a:endParaRPr/>
          </a:p>
        </p:txBody>
      </p:sp>
      <p:pic>
        <p:nvPicPr>
          <p:cNvPr id="396" name="Google Shape;396;p33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97" name="Google Shape;397;p33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3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3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primary task of a Web server is to monitor a communications port on its host machine, accept HTTP commands through that port, and perform the operations specified by the commands. 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HTTP commands include a URL, which includes the specification of a host server machine. </a:t>
            </a:r>
            <a:endParaRPr sz="2800" b="0" i="0" u="none" strike="noStrike" cap="none">
              <a:solidFill>
                <a:srgbClr val="00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URL is received, it is translated into either a file name (in which case the file is returned to the requesting client) or a program name (in which case the program is run and its output is sent to the requesting client).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4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 Resource Locators</a:t>
            </a:r>
            <a:endParaRPr sz="3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34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457200" marR="0" lvl="0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 (or universal) resource locators (URLs) are used to identify documents (resources) on the Internet.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scheme:object-address</a:t>
            </a:r>
            <a:endParaRPr/>
          </a:p>
          <a:p>
            <a:pPr marL="457200" marR="0" lvl="0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case of HTTP, the form of the object address of a URL is as follows: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fully-qualified-domain-name/path-to-document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file is the protocol, the fully qualified domain name is omitted, making the form of such URLs as follows: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file://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path-to-document</a:t>
            </a:r>
            <a:endParaRPr sz="28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273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800" b="1" i="1" u="none" strike="noStrike" cap="non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273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800" b="1" i="0" u="none" strike="noStrike" cap="none">
              <a:solidFill>
                <a:srgbClr val="8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2735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2735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92735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8" name="Google Shape;408;p34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4770" y="5882183"/>
            <a:ext cx="1037230" cy="948521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5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Multipurpose Internet Mail Extensions(MIME</a:t>
            </a:r>
            <a:r>
              <a:rPr lang="en-US" sz="3200" b="0" i="0" u="none" strike="noStrike" cap="none">
                <a:solidFill>
                  <a:srgbClr val="6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3600" b="1" i="0" u="none" strike="noStrike" cap="none">
              <a:solidFill>
                <a:srgbClr val="6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14" name="Google Shape;414;p35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marR="0" lvl="0" indent="-43053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browser needs some way of determining the format of a document it receives from a Web ser -/-n5uiover. </a:t>
            </a:r>
            <a:endParaRPr/>
          </a:p>
          <a:p>
            <a:pPr marL="457200" marR="0" lvl="0" indent="-43053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forms of these documents are specified with Multipurpose Internet Mail Extensions 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(MIME).</a:t>
            </a:r>
            <a:endParaRPr/>
          </a:p>
          <a:p>
            <a:pPr marL="457200" marR="0" lvl="0" indent="-43053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Noto Sans Symbols"/>
              <a:buChar char="⮚"/>
            </a:pP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MIME specifications</a:t>
            </a: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have the following form:</a:t>
            </a:r>
            <a:endParaRPr/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Times New Roman"/>
              <a:buNone/>
            </a:pPr>
            <a:r>
              <a:rPr lang="en-US" sz="2800" b="0" i="0" u="none" strike="noStrike" cap="none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800" b="1" i="1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type/subtype</a:t>
            </a:r>
            <a:endParaRPr/>
          </a:p>
          <a:p>
            <a:pPr marL="457200" marR="0" lvl="0" indent="-279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6" name="Google Shape;416;p35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17" name="Google Shape;417;p35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5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6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 Text Transfer Protocol(HTTP)</a:t>
            </a:r>
            <a:endParaRPr sz="3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36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Web communications transactions use the same protocol: 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Hypertext Transfer Protocol (HTTP) formally defined as RFC 2616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consists of 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phases</a:t>
            </a:r>
            <a:r>
              <a:rPr lang="en-US" sz="28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and Response</a:t>
            </a:r>
            <a:r>
              <a:rPr lang="en-US" sz="2800" b="1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HTTP communication (request or response) between a 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</a:t>
            </a:r>
            <a:r>
              <a:rPr lang="en-US" sz="28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Web server consists of two parts: 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Header</a:t>
            </a:r>
            <a:r>
              <a:rPr lang="en-US" sz="2800" b="0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 </a:t>
            </a: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</a:t>
            </a:r>
            <a:r>
              <a:rPr lang="en-US" sz="2800" b="0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header contains information about the communication; the body contains the data of the communication if there is any.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5" name="Google Shape;425;p36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26" name="Google Shape;426;p36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6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7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Request Phase</a:t>
            </a:r>
            <a:endParaRPr sz="3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37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marR="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general form of an HTTP request is as follows:</a:t>
            </a:r>
            <a:endParaRPr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Times New Roman"/>
              <a:buNone/>
            </a:pPr>
            <a:r>
              <a:rPr lang="en-US" sz="28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1. HTTP method Domain part of the URL HTTP version</a:t>
            </a:r>
            <a:endParaRPr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Times New Roman"/>
              <a:buNone/>
            </a:pPr>
            <a:r>
              <a:rPr lang="en-US" sz="28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2. Header fields</a:t>
            </a:r>
            <a:endParaRPr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Times New Roman"/>
              <a:buNone/>
            </a:pPr>
            <a:r>
              <a:rPr lang="en-US" sz="28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3. Blank line</a:t>
            </a:r>
            <a:endParaRPr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Times New Roman"/>
              <a:buNone/>
            </a:pPr>
            <a:r>
              <a:rPr lang="en-US" sz="28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4. Message body</a:t>
            </a:r>
            <a:endParaRPr/>
          </a:p>
          <a:p>
            <a:pPr marL="457200" marR="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45103"/>
              </a:buClr>
              <a:buSzPct val="1000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14510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following is an example of the first line of an HTTP request:</a:t>
            </a:r>
            <a:endParaRPr/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/storefront.html HTTP/1.1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4" name="Google Shape;434;p37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35" name="Google Shape;435;p37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7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8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REQUEST METHODS</a:t>
            </a:r>
            <a:endParaRPr sz="36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2" name="Google Shape;442;p38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43" name="Google Shape;443;p38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8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71D01"/>
                </a:solidFill>
                <a:latin typeface="Arial"/>
                <a:ea typeface="Arial"/>
                <a:cs typeface="Arial"/>
                <a:sym typeface="Arial"/>
              </a:rPr>
              <a:t>There are four categories of header fields: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71D01"/>
                </a:solidFill>
                <a:latin typeface="Arial"/>
                <a:ea typeface="Arial"/>
                <a:cs typeface="Arial"/>
                <a:sym typeface="Arial"/>
              </a:rPr>
              <a:t>1. General: For general information, such as the date.</a:t>
            </a:r>
            <a:endParaRPr sz="2800" b="0" i="0" u="none" strike="noStrike" cap="none">
              <a:solidFill>
                <a:srgbClr val="071D0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71D01"/>
                </a:solidFill>
                <a:latin typeface="Arial"/>
                <a:ea typeface="Arial"/>
                <a:cs typeface="Arial"/>
                <a:sym typeface="Arial"/>
              </a:rPr>
              <a:t>2. Request: Included in request headers.</a:t>
            </a:r>
            <a:endParaRPr sz="2800" b="0" i="0" u="none" strike="noStrike" cap="none">
              <a:solidFill>
                <a:srgbClr val="071D0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71D01"/>
                </a:solidFill>
                <a:latin typeface="Arial"/>
                <a:ea typeface="Arial"/>
                <a:cs typeface="Arial"/>
                <a:sym typeface="Arial"/>
              </a:rPr>
              <a:t>3. Response: For response headers.</a:t>
            </a:r>
            <a:endParaRPr sz="2800" b="0" i="0" u="none" strike="noStrike" cap="none">
              <a:solidFill>
                <a:srgbClr val="071D0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71D01"/>
                </a:solidFill>
                <a:latin typeface="Arial"/>
                <a:ea typeface="Arial"/>
                <a:cs typeface="Arial"/>
                <a:sym typeface="Arial"/>
              </a:rPr>
              <a:t>4. Entity: Used in both request and response headers.</a:t>
            </a:r>
            <a:endParaRPr sz="2800" b="0" i="0" u="none" strike="noStrike" cap="none">
              <a:solidFill>
                <a:srgbClr val="071D0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6" name="Google Shape;446;p38" descr="tbl01_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1100" y="1085850"/>
            <a:ext cx="1038225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9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Response Phase</a:t>
            </a:r>
            <a:endParaRPr sz="3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39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general form of an HTTP response is as follows: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1. Status line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2. Response header fields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3. Blank line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4. Response body</a:t>
            </a:r>
            <a:endParaRPr dirty="0"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status line includes the HTTP version used, a three-digit status code for the response, and a short textual explanation of the status code. </a:t>
            </a:r>
            <a:endParaRPr sz="2400" b="0" i="0" u="none" strike="noStrike" cap="none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</a:t>
            </a:r>
            <a:r>
              <a:rPr lang="en-US" sz="24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HTTP/1.1 200 OK</a:t>
            </a:r>
            <a:endParaRPr dirty="0"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status codes begin with 1, 2, 3, 4, or 5</a:t>
            </a:r>
            <a:r>
              <a:rPr lang="en-US" sz="24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39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9"/>
          <p:cNvSpPr/>
          <p:nvPr/>
        </p:nvSpPr>
        <p:spPr>
          <a:xfrm>
            <a:off x="11602872" y="0"/>
            <a:ext cx="741600" cy="58821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39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4770" y="5882183"/>
            <a:ext cx="1037230" cy="948521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56" name="Google Shape;456;p39" descr="tbl01_01"/>
          <p:cNvPicPr preferRelativeResize="0"/>
          <p:nvPr/>
        </p:nvPicPr>
        <p:blipFill rotWithShape="1">
          <a:blip r:embed="rId4">
            <a:alphaModFix/>
          </a:blip>
          <a:srcRect b="11785"/>
          <a:stretch/>
        </p:blipFill>
        <p:spPr>
          <a:xfrm>
            <a:off x="4726112" y="1726057"/>
            <a:ext cx="5774078" cy="1976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2105</Words>
  <Application>Microsoft Office PowerPoint</Application>
  <PresentationFormat>Custom</PresentationFormat>
  <Paragraphs>262</Paragraphs>
  <Slides>43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Marcellus</vt:lpstr>
      <vt:lpstr>Noto Sans Symbols</vt:lpstr>
      <vt:lpstr>Times New Roman</vt:lpstr>
      <vt:lpstr>Office Theme</vt:lpstr>
      <vt:lpstr>PowerPoint Presentation</vt:lpstr>
      <vt:lpstr>ABOUT IMAGE</vt:lpstr>
      <vt:lpstr>PowerPoint Presentation</vt:lpstr>
      <vt:lpstr>PowerPoint Presentation</vt:lpstr>
      <vt:lpstr>COURSE OUTCOMES</vt:lpstr>
      <vt:lpstr> 22CAC09N  -FULL STACK DEVELOPMENT</vt:lpstr>
      <vt:lpstr>22CAC09-FULL STACK DEVELOPMENT</vt:lpstr>
      <vt:lpstr>22CAC09-FULL STACK DEVELOPMENT</vt:lpstr>
      <vt:lpstr>PowerPoint Presentation</vt:lpstr>
      <vt:lpstr>PowerPoint Presentation</vt:lpstr>
      <vt:lpstr>PowerPoint Presentation</vt:lpstr>
      <vt:lpstr>PowerPoint Presentation</vt:lpstr>
      <vt:lpstr>22CAC09-FULL STACK DEVELOPMENT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Introduction: Web Fundamentals</vt:lpstr>
      <vt:lpstr>PowerPoint Presentation</vt:lpstr>
      <vt:lpstr>PowerPoint Presentation</vt:lpstr>
      <vt:lpstr>PowerPoint Presentation</vt:lpstr>
      <vt:lpstr>PowerPoint Presentation</vt:lpstr>
      <vt:lpstr>Internet Protocol Address</vt:lpstr>
      <vt:lpstr>PowerPoint Presentation</vt:lpstr>
      <vt:lpstr>PowerPoint Presentation</vt:lpstr>
      <vt:lpstr>PowerPoint Presentation</vt:lpstr>
      <vt:lpstr>PowerPoint Presentation</vt:lpstr>
      <vt:lpstr>Domain Name System (DNS)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Web Server Operation</vt:lpstr>
      <vt:lpstr>PowerPoint Presentation</vt:lpstr>
      <vt:lpstr>PowerPoint Presentation</vt:lpstr>
      <vt:lpstr>PowerPoint Presentation</vt:lpstr>
      <vt:lpstr>PowerPoint Presentation</vt:lpstr>
      <vt:lpstr>HTTP REQUEST METHODS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Aditi  Rajani</dc:creator>
  <cp:lastModifiedBy>CBIT</cp:lastModifiedBy>
  <cp:revision>29</cp:revision>
  <dcterms:created xsi:type="dcterms:W3CDTF">2020-04-30T07:52:47Z</dcterms:created>
  <dcterms:modified xsi:type="dcterms:W3CDTF">2026-06-11T05:02:02Z</dcterms:modified>
</cp:coreProperties>
</file>